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 id="288" r:id="rId26"/>
    <p:sldId id="299" r:id="rId27"/>
    <p:sldId id="298" r:id="rId28"/>
    <p:sldId id="280" r:id="rId29"/>
    <p:sldId id="290" r:id="rId30"/>
    <p:sldId id="291" r:id="rId31"/>
    <p:sldId id="292" r:id="rId32"/>
    <p:sldId id="293" r:id="rId33"/>
    <p:sldId id="286" r:id="rId34"/>
    <p:sldId id="294" r:id="rId35"/>
    <p:sldId id="281" r:id="rId36"/>
    <p:sldId id="282" r:id="rId37"/>
    <p:sldId id="283" r:id="rId38"/>
    <p:sldId id="284" r:id="rId39"/>
    <p:sldId id="287" r:id="rId40"/>
    <p:sldId id="295" r:id="rId41"/>
    <p:sldId id="296" r:id="rId42"/>
    <p:sldId id="297" r:id="rId43"/>
    <p:sldId id="300"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54" autoAdjust="0"/>
    <p:restoredTop sz="94660"/>
  </p:normalViewPr>
  <p:slideViewPr>
    <p:cSldViewPr snapToGrid="0">
      <p:cViewPr varScale="1">
        <p:scale>
          <a:sx n="67" d="100"/>
          <a:sy n="67" d="100"/>
        </p:scale>
        <p:origin x="38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164964-E6F5-48BF-B0D6-CCB487C3F2E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F76F7E88-D930-4A7E-A574-DCF1335AE79D}">
      <dgm:prSet phldrT="[Text]" phldr="0" custT="1"/>
      <dgm:spPr/>
      <dgm:t>
        <a:bodyPr/>
        <a:lstStyle/>
        <a:p>
          <a:r>
            <a:rPr lang="en-US" sz="4000"/>
            <a:t>Dữ liệu</a:t>
          </a:r>
        </a:p>
      </dgm:t>
    </dgm:pt>
    <dgm:pt modelId="{10F3A448-0C63-4BD4-AE59-0B71F1DD2C63}" type="parTrans" cxnId="{AA85B90A-7139-49CB-8F5F-E0663C23E825}">
      <dgm:prSet/>
      <dgm:spPr/>
      <dgm:t>
        <a:bodyPr/>
        <a:lstStyle/>
        <a:p>
          <a:endParaRPr lang="en-US" sz="2400"/>
        </a:p>
      </dgm:t>
    </dgm:pt>
    <dgm:pt modelId="{2490DF2F-C066-4A98-B87F-E02279E18804}" type="sibTrans" cxnId="{AA85B90A-7139-49CB-8F5F-E0663C23E825}">
      <dgm:prSet/>
      <dgm:spPr/>
      <dgm:t>
        <a:bodyPr/>
        <a:lstStyle/>
        <a:p>
          <a:endParaRPr lang="en-US" sz="2400"/>
        </a:p>
      </dgm:t>
    </dgm:pt>
    <dgm:pt modelId="{15316A5C-F5E1-4119-A803-1844E699D805}">
      <dgm:prSet phldrT="[Text]" phldr="0" custT="1"/>
      <dgm:spPr/>
      <dgm:t>
        <a:bodyPr/>
        <a:lstStyle/>
        <a:p>
          <a:r>
            <a:rPr lang="en-US" sz="4000"/>
            <a:t>Hệ quản trị CSDL</a:t>
          </a:r>
        </a:p>
      </dgm:t>
    </dgm:pt>
    <dgm:pt modelId="{20F740F6-AC9F-44FC-9139-6C4B52177349}" type="parTrans" cxnId="{BD3A3680-37B8-4C64-957E-72D3D5E42C08}">
      <dgm:prSet/>
      <dgm:spPr/>
      <dgm:t>
        <a:bodyPr/>
        <a:lstStyle/>
        <a:p>
          <a:endParaRPr lang="en-US" sz="2400"/>
        </a:p>
      </dgm:t>
    </dgm:pt>
    <dgm:pt modelId="{4BB825E8-0C1F-4631-90BA-55F4BAC75D78}" type="sibTrans" cxnId="{BD3A3680-37B8-4C64-957E-72D3D5E42C08}">
      <dgm:prSet/>
      <dgm:spPr/>
      <dgm:t>
        <a:bodyPr/>
        <a:lstStyle/>
        <a:p>
          <a:endParaRPr lang="en-US" sz="2400"/>
        </a:p>
      </dgm:t>
    </dgm:pt>
    <dgm:pt modelId="{BC1849DE-F5F5-40F1-B55F-F073F6075316}">
      <dgm:prSet phldrT="[Text]" phldr="0" custT="1"/>
      <dgm:spPr/>
      <dgm:t>
        <a:bodyPr/>
        <a:lstStyle/>
        <a:p>
          <a:r>
            <a:rPr lang="en-US" sz="4000"/>
            <a:t>Các mô hình biểu diễn và truy xuất dữ liệu</a:t>
          </a:r>
        </a:p>
      </dgm:t>
    </dgm:pt>
    <dgm:pt modelId="{A6D5CA63-2334-482A-841F-191561673C95}" type="parTrans" cxnId="{25C1448D-1AC5-4C7B-A308-71BAF1654307}">
      <dgm:prSet/>
      <dgm:spPr/>
      <dgm:t>
        <a:bodyPr/>
        <a:lstStyle/>
        <a:p>
          <a:endParaRPr lang="en-US" sz="2400"/>
        </a:p>
      </dgm:t>
    </dgm:pt>
    <dgm:pt modelId="{11B48B74-0D6E-424C-B491-2295B7C9905B}" type="sibTrans" cxnId="{25C1448D-1AC5-4C7B-A308-71BAF1654307}">
      <dgm:prSet/>
      <dgm:spPr/>
      <dgm:t>
        <a:bodyPr/>
        <a:lstStyle/>
        <a:p>
          <a:endParaRPr lang="en-US" sz="2400"/>
        </a:p>
      </dgm:t>
    </dgm:pt>
    <dgm:pt modelId="{D1DEC0A3-A3F0-4AA0-BE89-B5419952629E}">
      <dgm:prSet phldrT="[Text]" phldr="0" custT="1"/>
      <dgm:spPr/>
      <dgm:t>
        <a:bodyPr/>
        <a:lstStyle/>
        <a:p>
          <a:r>
            <a:rPr lang="en-US" sz="4000"/>
            <a:t>Cơ sở dữ liệu</a:t>
          </a:r>
        </a:p>
      </dgm:t>
    </dgm:pt>
    <dgm:pt modelId="{06C45628-CF82-4581-B26D-B8036D9DA2E9}" type="parTrans" cxnId="{AA25D68F-D567-4F1A-921F-2A731F9975D1}">
      <dgm:prSet/>
      <dgm:spPr/>
      <dgm:t>
        <a:bodyPr/>
        <a:lstStyle/>
        <a:p>
          <a:endParaRPr lang="en-US"/>
        </a:p>
      </dgm:t>
    </dgm:pt>
    <dgm:pt modelId="{925B1314-2E7A-4CF4-A172-D4C59F7330EE}" type="sibTrans" cxnId="{AA25D68F-D567-4F1A-921F-2A731F9975D1}">
      <dgm:prSet/>
      <dgm:spPr/>
      <dgm:t>
        <a:bodyPr/>
        <a:lstStyle/>
        <a:p>
          <a:endParaRPr lang="en-US"/>
        </a:p>
      </dgm:t>
    </dgm:pt>
    <dgm:pt modelId="{2B075CDD-9898-4B61-9C55-FCD213D72408}" type="pres">
      <dgm:prSet presAssocID="{67164964-E6F5-48BF-B0D6-CCB487C3F2E7}" presName="Name0" presStyleCnt="0">
        <dgm:presLayoutVars>
          <dgm:chMax val="7"/>
          <dgm:chPref val="7"/>
          <dgm:dir/>
        </dgm:presLayoutVars>
      </dgm:prSet>
      <dgm:spPr/>
    </dgm:pt>
    <dgm:pt modelId="{522353A7-FA31-4CD0-B27E-264B41EDC493}" type="pres">
      <dgm:prSet presAssocID="{67164964-E6F5-48BF-B0D6-CCB487C3F2E7}" presName="Name1" presStyleCnt="0"/>
      <dgm:spPr/>
    </dgm:pt>
    <dgm:pt modelId="{C2F7707E-DABE-47DA-9659-385CCE210542}" type="pres">
      <dgm:prSet presAssocID="{67164964-E6F5-48BF-B0D6-CCB487C3F2E7}" presName="cycle" presStyleCnt="0"/>
      <dgm:spPr/>
    </dgm:pt>
    <dgm:pt modelId="{A217EA38-4994-4EE4-93D1-63C57B5E5F4B}" type="pres">
      <dgm:prSet presAssocID="{67164964-E6F5-48BF-B0D6-CCB487C3F2E7}" presName="srcNode" presStyleLbl="node1" presStyleIdx="0" presStyleCnt="4"/>
      <dgm:spPr/>
    </dgm:pt>
    <dgm:pt modelId="{7BA3DBA0-4751-4202-9309-9E690823D939}" type="pres">
      <dgm:prSet presAssocID="{67164964-E6F5-48BF-B0D6-CCB487C3F2E7}" presName="conn" presStyleLbl="parChTrans1D2" presStyleIdx="0" presStyleCnt="1"/>
      <dgm:spPr/>
    </dgm:pt>
    <dgm:pt modelId="{CC3E113E-9BBC-4A96-B733-07BFA3326626}" type="pres">
      <dgm:prSet presAssocID="{67164964-E6F5-48BF-B0D6-CCB487C3F2E7}" presName="extraNode" presStyleLbl="node1" presStyleIdx="0" presStyleCnt="4"/>
      <dgm:spPr/>
    </dgm:pt>
    <dgm:pt modelId="{EA61032C-25AD-45D8-8A86-0D50B6C62113}" type="pres">
      <dgm:prSet presAssocID="{67164964-E6F5-48BF-B0D6-CCB487C3F2E7}" presName="dstNode" presStyleLbl="node1" presStyleIdx="0" presStyleCnt="4"/>
      <dgm:spPr/>
    </dgm:pt>
    <dgm:pt modelId="{DB334DEC-58D4-42D6-AE0A-A3B8808904E3}" type="pres">
      <dgm:prSet presAssocID="{F76F7E88-D930-4A7E-A574-DCF1335AE79D}" presName="text_1" presStyleLbl="node1" presStyleIdx="0" presStyleCnt="4">
        <dgm:presLayoutVars>
          <dgm:bulletEnabled val="1"/>
        </dgm:presLayoutVars>
      </dgm:prSet>
      <dgm:spPr/>
    </dgm:pt>
    <dgm:pt modelId="{0A523357-3A42-40DC-BF2E-E38C3787A343}" type="pres">
      <dgm:prSet presAssocID="{F76F7E88-D930-4A7E-A574-DCF1335AE79D}" presName="accent_1" presStyleCnt="0"/>
      <dgm:spPr/>
    </dgm:pt>
    <dgm:pt modelId="{40BF0168-CFFA-4AEB-91AF-F98BE5AB38CA}" type="pres">
      <dgm:prSet presAssocID="{F76F7E88-D930-4A7E-A574-DCF1335AE79D}" presName="accentRepeatNode" presStyleLbl="solidFgAcc1" presStyleIdx="0" presStyleCnt="4"/>
      <dgm:spPr/>
    </dgm:pt>
    <dgm:pt modelId="{3B9CAC46-2A83-42BD-81A5-2003734F3995}" type="pres">
      <dgm:prSet presAssocID="{D1DEC0A3-A3F0-4AA0-BE89-B5419952629E}" presName="text_2" presStyleLbl="node1" presStyleIdx="1" presStyleCnt="4">
        <dgm:presLayoutVars>
          <dgm:bulletEnabled val="1"/>
        </dgm:presLayoutVars>
      </dgm:prSet>
      <dgm:spPr/>
    </dgm:pt>
    <dgm:pt modelId="{C6EF3F47-7FE9-4BF7-B02A-6F1A9A372339}" type="pres">
      <dgm:prSet presAssocID="{D1DEC0A3-A3F0-4AA0-BE89-B5419952629E}" presName="accent_2" presStyleCnt="0"/>
      <dgm:spPr/>
    </dgm:pt>
    <dgm:pt modelId="{35D1D549-3BB6-4EB2-8147-031B419E70BC}" type="pres">
      <dgm:prSet presAssocID="{D1DEC0A3-A3F0-4AA0-BE89-B5419952629E}" presName="accentRepeatNode" presStyleLbl="solidFgAcc1" presStyleIdx="1" presStyleCnt="4"/>
      <dgm:spPr/>
    </dgm:pt>
    <dgm:pt modelId="{59231895-2F4A-4520-8FFA-8ADD4D5D1571}" type="pres">
      <dgm:prSet presAssocID="{15316A5C-F5E1-4119-A803-1844E699D805}" presName="text_3" presStyleLbl="node1" presStyleIdx="2" presStyleCnt="4">
        <dgm:presLayoutVars>
          <dgm:bulletEnabled val="1"/>
        </dgm:presLayoutVars>
      </dgm:prSet>
      <dgm:spPr/>
    </dgm:pt>
    <dgm:pt modelId="{F76E2218-3DD6-477F-A17E-6E61E703ECFB}" type="pres">
      <dgm:prSet presAssocID="{15316A5C-F5E1-4119-A803-1844E699D805}" presName="accent_3" presStyleCnt="0"/>
      <dgm:spPr/>
    </dgm:pt>
    <dgm:pt modelId="{E49799ED-8A01-4A30-A8F6-20D07AE90AD3}" type="pres">
      <dgm:prSet presAssocID="{15316A5C-F5E1-4119-A803-1844E699D805}" presName="accentRepeatNode" presStyleLbl="solidFgAcc1" presStyleIdx="2" presStyleCnt="4"/>
      <dgm:spPr/>
    </dgm:pt>
    <dgm:pt modelId="{B8ACBCB3-146F-4258-AFC4-0225002F7B42}" type="pres">
      <dgm:prSet presAssocID="{BC1849DE-F5F5-40F1-B55F-F073F6075316}" presName="text_4" presStyleLbl="node1" presStyleIdx="3" presStyleCnt="4">
        <dgm:presLayoutVars>
          <dgm:bulletEnabled val="1"/>
        </dgm:presLayoutVars>
      </dgm:prSet>
      <dgm:spPr/>
    </dgm:pt>
    <dgm:pt modelId="{E782F5E2-5DAB-4C4A-B782-42DD5DF73A1A}" type="pres">
      <dgm:prSet presAssocID="{BC1849DE-F5F5-40F1-B55F-F073F6075316}" presName="accent_4" presStyleCnt="0"/>
      <dgm:spPr/>
    </dgm:pt>
    <dgm:pt modelId="{AA4D25D8-5950-4DF8-B0F8-C3B069005CD4}" type="pres">
      <dgm:prSet presAssocID="{BC1849DE-F5F5-40F1-B55F-F073F6075316}" presName="accentRepeatNode" presStyleLbl="solidFgAcc1" presStyleIdx="3" presStyleCnt="4"/>
      <dgm:spPr/>
    </dgm:pt>
  </dgm:ptLst>
  <dgm:cxnLst>
    <dgm:cxn modelId="{AF126504-93FC-47C4-861F-E697176A0831}" type="presOf" srcId="{D1DEC0A3-A3F0-4AA0-BE89-B5419952629E}" destId="{3B9CAC46-2A83-42BD-81A5-2003734F3995}" srcOrd="0" destOrd="0" presId="urn:microsoft.com/office/officeart/2008/layout/VerticalCurvedList"/>
    <dgm:cxn modelId="{AA85B90A-7139-49CB-8F5F-E0663C23E825}" srcId="{67164964-E6F5-48BF-B0D6-CCB487C3F2E7}" destId="{F76F7E88-D930-4A7E-A574-DCF1335AE79D}" srcOrd="0" destOrd="0" parTransId="{10F3A448-0C63-4BD4-AE59-0B71F1DD2C63}" sibTransId="{2490DF2F-C066-4A98-B87F-E02279E18804}"/>
    <dgm:cxn modelId="{F7148626-AE85-4364-973D-7BC8D23111A1}" type="presOf" srcId="{15316A5C-F5E1-4119-A803-1844E699D805}" destId="{59231895-2F4A-4520-8FFA-8ADD4D5D1571}" srcOrd="0" destOrd="0" presId="urn:microsoft.com/office/officeart/2008/layout/VerticalCurvedList"/>
    <dgm:cxn modelId="{AB7D9656-AD82-42F0-A317-62AF395F3BC6}" type="presOf" srcId="{BC1849DE-F5F5-40F1-B55F-F073F6075316}" destId="{B8ACBCB3-146F-4258-AFC4-0225002F7B42}" srcOrd="0" destOrd="0" presId="urn:microsoft.com/office/officeart/2008/layout/VerticalCurvedList"/>
    <dgm:cxn modelId="{BD3A3680-37B8-4C64-957E-72D3D5E42C08}" srcId="{67164964-E6F5-48BF-B0D6-CCB487C3F2E7}" destId="{15316A5C-F5E1-4119-A803-1844E699D805}" srcOrd="2" destOrd="0" parTransId="{20F740F6-AC9F-44FC-9139-6C4B52177349}" sibTransId="{4BB825E8-0C1F-4631-90BA-55F4BAC75D78}"/>
    <dgm:cxn modelId="{916EFA82-9624-464E-A386-D3B7EBF5BC39}" type="presOf" srcId="{F76F7E88-D930-4A7E-A574-DCF1335AE79D}" destId="{DB334DEC-58D4-42D6-AE0A-A3B8808904E3}" srcOrd="0" destOrd="0" presId="urn:microsoft.com/office/officeart/2008/layout/VerticalCurvedList"/>
    <dgm:cxn modelId="{CD0B0E89-F2B7-4048-BF69-DC8792F87F9B}" type="presOf" srcId="{2490DF2F-C066-4A98-B87F-E02279E18804}" destId="{7BA3DBA0-4751-4202-9309-9E690823D939}" srcOrd="0" destOrd="0" presId="urn:microsoft.com/office/officeart/2008/layout/VerticalCurvedList"/>
    <dgm:cxn modelId="{25C1448D-1AC5-4C7B-A308-71BAF1654307}" srcId="{67164964-E6F5-48BF-B0D6-CCB487C3F2E7}" destId="{BC1849DE-F5F5-40F1-B55F-F073F6075316}" srcOrd="3" destOrd="0" parTransId="{A6D5CA63-2334-482A-841F-191561673C95}" sibTransId="{11B48B74-0D6E-424C-B491-2295B7C9905B}"/>
    <dgm:cxn modelId="{AA25D68F-D567-4F1A-921F-2A731F9975D1}" srcId="{67164964-E6F5-48BF-B0D6-CCB487C3F2E7}" destId="{D1DEC0A3-A3F0-4AA0-BE89-B5419952629E}" srcOrd="1" destOrd="0" parTransId="{06C45628-CF82-4581-B26D-B8036D9DA2E9}" sibTransId="{925B1314-2E7A-4CF4-A172-D4C59F7330EE}"/>
    <dgm:cxn modelId="{01A326DE-DD72-4ED9-B93D-D5B0B74FBE71}" type="presOf" srcId="{67164964-E6F5-48BF-B0D6-CCB487C3F2E7}" destId="{2B075CDD-9898-4B61-9C55-FCD213D72408}" srcOrd="0" destOrd="0" presId="urn:microsoft.com/office/officeart/2008/layout/VerticalCurvedList"/>
    <dgm:cxn modelId="{DC591863-071A-4218-AE45-733747AE0C94}" type="presParOf" srcId="{2B075CDD-9898-4B61-9C55-FCD213D72408}" destId="{522353A7-FA31-4CD0-B27E-264B41EDC493}" srcOrd="0" destOrd="0" presId="urn:microsoft.com/office/officeart/2008/layout/VerticalCurvedList"/>
    <dgm:cxn modelId="{8A019E13-4083-4112-B6F2-03FBC35D79C3}" type="presParOf" srcId="{522353A7-FA31-4CD0-B27E-264B41EDC493}" destId="{C2F7707E-DABE-47DA-9659-385CCE210542}" srcOrd="0" destOrd="0" presId="urn:microsoft.com/office/officeart/2008/layout/VerticalCurvedList"/>
    <dgm:cxn modelId="{AC5A0D90-7190-44D9-BFE4-A3236F1A90AA}" type="presParOf" srcId="{C2F7707E-DABE-47DA-9659-385CCE210542}" destId="{A217EA38-4994-4EE4-93D1-63C57B5E5F4B}" srcOrd="0" destOrd="0" presId="urn:microsoft.com/office/officeart/2008/layout/VerticalCurvedList"/>
    <dgm:cxn modelId="{1A1CDA7C-D99D-44D3-BAEA-9A21E7DC61B1}" type="presParOf" srcId="{C2F7707E-DABE-47DA-9659-385CCE210542}" destId="{7BA3DBA0-4751-4202-9309-9E690823D939}" srcOrd="1" destOrd="0" presId="urn:microsoft.com/office/officeart/2008/layout/VerticalCurvedList"/>
    <dgm:cxn modelId="{73E39D84-30E2-46DA-ACF6-60BA00503869}" type="presParOf" srcId="{C2F7707E-DABE-47DA-9659-385CCE210542}" destId="{CC3E113E-9BBC-4A96-B733-07BFA3326626}" srcOrd="2" destOrd="0" presId="urn:microsoft.com/office/officeart/2008/layout/VerticalCurvedList"/>
    <dgm:cxn modelId="{676D3121-436B-4D5F-BF1A-77AEBDBC2138}" type="presParOf" srcId="{C2F7707E-DABE-47DA-9659-385CCE210542}" destId="{EA61032C-25AD-45D8-8A86-0D50B6C62113}" srcOrd="3" destOrd="0" presId="urn:microsoft.com/office/officeart/2008/layout/VerticalCurvedList"/>
    <dgm:cxn modelId="{2A3577A3-A456-41D5-A131-4B19A185D3FB}" type="presParOf" srcId="{522353A7-FA31-4CD0-B27E-264B41EDC493}" destId="{DB334DEC-58D4-42D6-AE0A-A3B8808904E3}" srcOrd="1" destOrd="0" presId="urn:microsoft.com/office/officeart/2008/layout/VerticalCurvedList"/>
    <dgm:cxn modelId="{58D9F5AB-FD6B-43C2-B3EA-A6FE693455DB}" type="presParOf" srcId="{522353A7-FA31-4CD0-B27E-264B41EDC493}" destId="{0A523357-3A42-40DC-BF2E-E38C3787A343}" srcOrd="2" destOrd="0" presId="urn:microsoft.com/office/officeart/2008/layout/VerticalCurvedList"/>
    <dgm:cxn modelId="{B8451AE8-7D4E-46A0-8E2A-ED4B72B8A51E}" type="presParOf" srcId="{0A523357-3A42-40DC-BF2E-E38C3787A343}" destId="{40BF0168-CFFA-4AEB-91AF-F98BE5AB38CA}" srcOrd="0" destOrd="0" presId="urn:microsoft.com/office/officeart/2008/layout/VerticalCurvedList"/>
    <dgm:cxn modelId="{445FE517-A544-4D2F-852A-809843A7D0D4}" type="presParOf" srcId="{522353A7-FA31-4CD0-B27E-264B41EDC493}" destId="{3B9CAC46-2A83-42BD-81A5-2003734F3995}" srcOrd="3" destOrd="0" presId="urn:microsoft.com/office/officeart/2008/layout/VerticalCurvedList"/>
    <dgm:cxn modelId="{2B038A74-2F0A-45BD-99B0-351AE7256DF3}" type="presParOf" srcId="{522353A7-FA31-4CD0-B27E-264B41EDC493}" destId="{C6EF3F47-7FE9-4BF7-B02A-6F1A9A372339}" srcOrd="4" destOrd="0" presId="urn:microsoft.com/office/officeart/2008/layout/VerticalCurvedList"/>
    <dgm:cxn modelId="{10452CD3-E5FD-4805-A009-32E2936793AE}" type="presParOf" srcId="{C6EF3F47-7FE9-4BF7-B02A-6F1A9A372339}" destId="{35D1D549-3BB6-4EB2-8147-031B419E70BC}" srcOrd="0" destOrd="0" presId="urn:microsoft.com/office/officeart/2008/layout/VerticalCurvedList"/>
    <dgm:cxn modelId="{A1CEF240-9EFA-4292-ABB4-48F8D66EDC4B}" type="presParOf" srcId="{522353A7-FA31-4CD0-B27E-264B41EDC493}" destId="{59231895-2F4A-4520-8FFA-8ADD4D5D1571}" srcOrd="5" destOrd="0" presId="urn:microsoft.com/office/officeart/2008/layout/VerticalCurvedList"/>
    <dgm:cxn modelId="{D29C6F16-64F3-4E73-B01D-6CFA08BF8B0B}" type="presParOf" srcId="{522353A7-FA31-4CD0-B27E-264B41EDC493}" destId="{F76E2218-3DD6-477F-A17E-6E61E703ECFB}" srcOrd="6" destOrd="0" presId="urn:microsoft.com/office/officeart/2008/layout/VerticalCurvedList"/>
    <dgm:cxn modelId="{52904FDA-AAAC-40FA-A0A4-69CDE3BE2E55}" type="presParOf" srcId="{F76E2218-3DD6-477F-A17E-6E61E703ECFB}" destId="{E49799ED-8A01-4A30-A8F6-20D07AE90AD3}" srcOrd="0" destOrd="0" presId="urn:microsoft.com/office/officeart/2008/layout/VerticalCurvedList"/>
    <dgm:cxn modelId="{4675F1E7-2DBD-4B69-9596-390C8E13E945}" type="presParOf" srcId="{522353A7-FA31-4CD0-B27E-264B41EDC493}" destId="{B8ACBCB3-146F-4258-AFC4-0225002F7B42}" srcOrd="7" destOrd="0" presId="urn:microsoft.com/office/officeart/2008/layout/VerticalCurvedList"/>
    <dgm:cxn modelId="{74262B41-D3AA-4DDD-8F56-A052070E5D54}" type="presParOf" srcId="{522353A7-FA31-4CD0-B27E-264B41EDC493}" destId="{E782F5E2-5DAB-4C4A-B782-42DD5DF73A1A}" srcOrd="8" destOrd="0" presId="urn:microsoft.com/office/officeart/2008/layout/VerticalCurvedList"/>
    <dgm:cxn modelId="{D43233BC-6D10-47D0-A2E6-D45BF90E56B3}" type="presParOf" srcId="{E782F5E2-5DAB-4C4A-B782-42DD5DF73A1A}" destId="{AA4D25D8-5950-4DF8-B0F8-C3B069005CD4}"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A3DBA0-4751-4202-9309-9E690823D939}">
      <dsp:nvSpPr>
        <dsp:cNvPr id="0" name=""/>
        <dsp:cNvSpPr/>
      </dsp:nvSpPr>
      <dsp:spPr>
        <a:xfrm>
          <a:off x="-3885729" y="-596681"/>
          <a:ext cx="4631043" cy="4631043"/>
        </a:xfrm>
        <a:prstGeom prst="blockArc">
          <a:avLst>
            <a:gd name="adj1" fmla="val 18900000"/>
            <a:gd name="adj2" fmla="val 2700000"/>
            <a:gd name="adj3" fmla="val 466"/>
          </a:avLst>
        </a:pr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334DEC-58D4-42D6-AE0A-A3B8808904E3}">
      <dsp:nvSpPr>
        <dsp:cNvPr id="0" name=""/>
        <dsp:cNvSpPr/>
      </dsp:nvSpPr>
      <dsp:spPr>
        <a:xfrm>
          <a:off x="390603" y="264288"/>
          <a:ext cx="9582814" cy="52885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kern="1200"/>
            <a:t>Dữ liệu</a:t>
          </a:r>
        </a:p>
      </dsp:txBody>
      <dsp:txXfrm>
        <a:off x="390603" y="264288"/>
        <a:ext cx="9582814" cy="528852"/>
      </dsp:txXfrm>
    </dsp:sp>
    <dsp:sp modelId="{40BF0168-CFFA-4AEB-91AF-F98BE5AB38CA}">
      <dsp:nvSpPr>
        <dsp:cNvPr id="0" name=""/>
        <dsp:cNvSpPr/>
      </dsp:nvSpPr>
      <dsp:spPr>
        <a:xfrm>
          <a:off x="60070" y="198182"/>
          <a:ext cx="661066" cy="661066"/>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9CAC46-2A83-42BD-81A5-2003734F3995}">
      <dsp:nvSpPr>
        <dsp:cNvPr id="0" name=""/>
        <dsp:cNvSpPr/>
      </dsp:nvSpPr>
      <dsp:spPr>
        <a:xfrm>
          <a:off x="693806" y="1057705"/>
          <a:ext cx="9279610" cy="52885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kern="1200"/>
            <a:t>Cơ sở dữ liệu</a:t>
          </a:r>
        </a:p>
      </dsp:txBody>
      <dsp:txXfrm>
        <a:off x="693806" y="1057705"/>
        <a:ext cx="9279610" cy="528852"/>
      </dsp:txXfrm>
    </dsp:sp>
    <dsp:sp modelId="{35D1D549-3BB6-4EB2-8147-031B419E70BC}">
      <dsp:nvSpPr>
        <dsp:cNvPr id="0" name=""/>
        <dsp:cNvSpPr/>
      </dsp:nvSpPr>
      <dsp:spPr>
        <a:xfrm>
          <a:off x="363273" y="991599"/>
          <a:ext cx="661066" cy="661066"/>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9231895-2F4A-4520-8FFA-8ADD4D5D1571}">
      <dsp:nvSpPr>
        <dsp:cNvPr id="0" name=""/>
        <dsp:cNvSpPr/>
      </dsp:nvSpPr>
      <dsp:spPr>
        <a:xfrm>
          <a:off x="693806" y="1851122"/>
          <a:ext cx="9279610" cy="52885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kern="1200"/>
            <a:t>Hệ quản trị CSDL</a:t>
          </a:r>
        </a:p>
      </dsp:txBody>
      <dsp:txXfrm>
        <a:off x="693806" y="1851122"/>
        <a:ext cx="9279610" cy="528852"/>
      </dsp:txXfrm>
    </dsp:sp>
    <dsp:sp modelId="{E49799ED-8A01-4A30-A8F6-20D07AE90AD3}">
      <dsp:nvSpPr>
        <dsp:cNvPr id="0" name=""/>
        <dsp:cNvSpPr/>
      </dsp:nvSpPr>
      <dsp:spPr>
        <a:xfrm>
          <a:off x="363273" y="1785015"/>
          <a:ext cx="661066" cy="661066"/>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ACBCB3-146F-4258-AFC4-0225002F7B42}">
      <dsp:nvSpPr>
        <dsp:cNvPr id="0" name=""/>
        <dsp:cNvSpPr/>
      </dsp:nvSpPr>
      <dsp:spPr>
        <a:xfrm>
          <a:off x="390603" y="2644539"/>
          <a:ext cx="9582814" cy="52885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kern="1200"/>
            <a:t>Các mô hình biểu diễn và truy xuất dữ liệu</a:t>
          </a:r>
        </a:p>
      </dsp:txBody>
      <dsp:txXfrm>
        <a:off x="390603" y="2644539"/>
        <a:ext cx="9582814" cy="528852"/>
      </dsp:txXfrm>
    </dsp:sp>
    <dsp:sp modelId="{AA4D25D8-5950-4DF8-B0F8-C3B069005CD4}">
      <dsp:nvSpPr>
        <dsp:cNvPr id="0" name=""/>
        <dsp:cNvSpPr/>
      </dsp:nvSpPr>
      <dsp:spPr>
        <a:xfrm>
          <a:off x="60070" y="2578432"/>
          <a:ext cx="661066" cy="661066"/>
        </a:xfrm>
        <a:prstGeom prst="ellipse">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634D9E-A368-4B9E-83A6-FC88B9C05DBC}" type="datetimeFigureOut">
              <a:rPr lang="en-US" smtClean="0"/>
              <a:t>4/11/2026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9461F-F957-41CF-9FAD-9177B3F05D18}" type="slidenum">
              <a:rPr lang="en-US" smtClean="0"/>
              <a:t>‹#›</a:t>
            </a:fld>
            <a:endParaRPr lang="en-US"/>
          </a:p>
        </p:txBody>
      </p:sp>
    </p:spTree>
    <p:extLst>
      <p:ext uri="{BB962C8B-B14F-4D97-AF65-F5344CB8AC3E}">
        <p14:creationId xmlns:p14="http://schemas.microsoft.com/office/powerpoint/2010/main" val="225959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69461F-F957-41CF-9FAD-9177B3F05D18}" type="slidenum">
              <a:rPr lang="en-US" smtClean="0"/>
              <a:t>19</a:t>
            </a:fld>
            <a:endParaRPr lang="en-US"/>
          </a:p>
        </p:txBody>
      </p:sp>
    </p:spTree>
    <p:extLst>
      <p:ext uri="{BB962C8B-B14F-4D97-AF65-F5344CB8AC3E}">
        <p14:creationId xmlns:p14="http://schemas.microsoft.com/office/powerpoint/2010/main" val="32006119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69461F-F957-41CF-9FAD-9177B3F05D18}" type="slidenum">
              <a:rPr lang="en-US" smtClean="0"/>
              <a:t>20</a:t>
            </a:fld>
            <a:endParaRPr lang="en-US"/>
          </a:p>
        </p:txBody>
      </p:sp>
    </p:spTree>
    <p:extLst>
      <p:ext uri="{BB962C8B-B14F-4D97-AF65-F5344CB8AC3E}">
        <p14:creationId xmlns:p14="http://schemas.microsoft.com/office/powerpoint/2010/main" val="1296899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3941538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160896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3884299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0E3E06-B2E9-4357-8284-45413C22937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74266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0E3E06-B2E9-4357-8284-45413C229374}" type="datetimeFigureOut">
              <a:rPr lang="en-US" smtClean="0"/>
              <a:t>4/11/2026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1094429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0E3E06-B2E9-4357-8284-45413C229374}" type="datetimeFigureOut">
              <a:rPr lang="en-US" smtClean="0"/>
              <a:t>4/11/2026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975176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0E3E06-B2E9-4357-8284-45413C229374}" type="datetimeFigureOut">
              <a:rPr lang="en-US" smtClean="0"/>
              <a:t>4/11/2026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945463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E3E06-B2E9-4357-8284-45413C22937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391194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E3E06-B2E9-4357-8284-45413C22937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1697762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0E3E06-B2E9-4357-8284-45413C229374}" type="datetimeFigureOut">
              <a:rPr lang="en-US" smtClean="0"/>
              <a:t>4/11/2026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6039633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6590654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2478383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14280197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33061804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527822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814219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0E3E06-B2E9-4357-8284-45413C229374}" type="datetimeFigureOut">
              <a:rPr lang="en-US" smtClean="0"/>
              <a:t>4/11/2026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3B89F6-38FB-4AE1-AF30-EAAAA1C9BBE9}" type="slidenum">
              <a:rPr lang="en-US" smtClean="0"/>
              <a:t>‹#›</a:t>
            </a:fld>
            <a:endParaRPr lang="en-US"/>
          </a:p>
        </p:txBody>
      </p:sp>
    </p:spTree>
    <p:extLst>
      <p:ext uri="{BB962C8B-B14F-4D97-AF65-F5344CB8AC3E}">
        <p14:creationId xmlns:p14="http://schemas.microsoft.com/office/powerpoint/2010/main" val="2555976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0E3E06-B2E9-4357-8284-45413C229374}" type="datetimeFigureOut">
              <a:rPr lang="en-US" smtClean="0"/>
              <a:t>4/11/2026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23B89F6-38FB-4AE1-AF30-EAAAA1C9BBE9}" type="slidenum">
              <a:rPr lang="en-US" smtClean="0"/>
              <a:t>‹#›</a:t>
            </a:fld>
            <a:endParaRPr lang="en-US"/>
          </a:p>
        </p:txBody>
      </p:sp>
    </p:spTree>
    <p:extLst>
      <p:ext uri="{BB962C8B-B14F-4D97-AF65-F5344CB8AC3E}">
        <p14:creationId xmlns:p14="http://schemas.microsoft.com/office/powerpoint/2010/main" val="74931809"/>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C9C3E-7C06-D7AB-2B7A-D102B9E087C3}"/>
              </a:ext>
            </a:extLst>
          </p:cNvPr>
          <p:cNvSpPr>
            <a:spLocks noGrp="1"/>
          </p:cNvSpPr>
          <p:nvPr>
            <p:ph type="ctrTitle"/>
          </p:nvPr>
        </p:nvSpPr>
        <p:spPr>
          <a:xfrm>
            <a:off x="1732345" y="1122363"/>
            <a:ext cx="9144000" cy="1470366"/>
          </a:xfrm>
        </p:spPr>
        <p:txBody>
          <a:bodyPr/>
          <a:lstStyle/>
          <a:p>
            <a:pPr algn="ctr"/>
            <a:r>
              <a:rPr lang="en-US" b="1">
                <a:latin typeface="Tahoma" panose="020B0604030504040204" pitchFamily="34" charset="0"/>
                <a:ea typeface="Tahoma" panose="020B0604030504040204" pitchFamily="34" charset="0"/>
                <a:cs typeface="Tahoma" panose="020B0604030504040204" pitchFamily="34" charset="0"/>
              </a:rPr>
              <a:t>CƠ SỞ DỮ LIỆU</a:t>
            </a:r>
          </a:p>
        </p:txBody>
      </p:sp>
      <p:sp>
        <p:nvSpPr>
          <p:cNvPr id="3" name="Subtitle 2">
            <a:extLst>
              <a:ext uri="{FF2B5EF4-FFF2-40B4-BE49-F238E27FC236}">
                <a16:creationId xmlns:a16="http://schemas.microsoft.com/office/drawing/2014/main" id="{DDE4ED2D-0742-1FCB-BB19-84D998F9741F}"/>
              </a:ext>
            </a:extLst>
          </p:cNvPr>
          <p:cNvSpPr>
            <a:spLocks noGrp="1"/>
          </p:cNvSpPr>
          <p:nvPr>
            <p:ph type="subTitle" idx="1"/>
          </p:nvPr>
        </p:nvSpPr>
        <p:spPr>
          <a:xfrm>
            <a:off x="1732345" y="3602038"/>
            <a:ext cx="9144000" cy="663234"/>
          </a:xfrm>
        </p:spPr>
        <p:txBody>
          <a:bodyPr>
            <a:normAutofit/>
          </a:bodyPr>
          <a:lstStyle/>
          <a:p>
            <a:pPr algn="ctr"/>
            <a:r>
              <a:rPr lang="en-US" sz="3200" b="1"/>
              <a:t>Giảng viên: ThS. Khương Thị Quỳnh</a:t>
            </a:r>
          </a:p>
        </p:txBody>
      </p:sp>
    </p:spTree>
    <p:extLst>
      <p:ext uri="{BB962C8B-B14F-4D97-AF65-F5344CB8AC3E}">
        <p14:creationId xmlns:p14="http://schemas.microsoft.com/office/powerpoint/2010/main" val="2063432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A569D-0184-0144-28AA-F55D811BBAEE}"/>
              </a:ext>
            </a:extLst>
          </p:cNvPr>
          <p:cNvSpPr>
            <a:spLocks noGrp="1"/>
          </p:cNvSpPr>
          <p:nvPr>
            <p:ph type="title"/>
          </p:nvPr>
        </p:nvSpPr>
        <p:spPr>
          <a:xfrm>
            <a:off x="1484311" y="685801"/>
            <a:ext cx="10018713" cy="1004104"/>
          </a:xfrm>
        </p:spPr>
        <p:txBody>
          <a:bodyPr/>
          <a:lstStyle/>
          <a:p>
            <a:r>
              <a:rPr lang="en-US" b="1"/>
              <a:t>TÀI LIỆU HỌC TẬP</a:t>
            </a:r>
          </a:p>
        </p:txBody>
      </p:sp>
      <p:sp>
        <p:nvSpPr>
          <p:cNvPr id="3" name="Content Placeholder 2">
            <a:extLst>
              <a:ext uri="{FF2B5EF4-FFF2-40B4-BE49-F238E27FC236}">
                <a16:creationId xmlns:a16="http://schemas.microsoft.com/office/drawing/2014/main" id="{0E62C502-4FA4-F852-822C-A57ACB8925A2}"/>
              </a:ext>
            </a:extLst>
          </p:cNvPr>
          <p:cNvSpPr>
            <a:spLocks noGrp="1"/>
          </p:cNvSpPr>
          <p:nvPr>
            <p:ph idx="1"/>
          </p:nvPr>
        </p:nvSpPr>
        <p:spPr>
          <a:xfrm>
            <a:off x="1350096" y="2048720"/>
            <a:ext cx="10287142" cy="3889093"/>
          </a:xfrm>
        </p:spPr>
        <p:txBody>
          <a:bodyPr>
            <a:normAutofit/>
          </a:bodyPr>
          <a:lstStyle/>
          <a:p>
            <a:pPr marL="0" indent="0">
              <a:buNone/>
            </a:pPr>
            <a:r>
              <a:rPr lang="vi-VN" sz="2800" b="1" i="1"/>
              <a:t>12.1 Tài liệu bắt buộc: </a:t>
            </a:r>
            <a:endParaRPr lang="en-US" sz="2800"/>
          </a:p>
          <a:p>
            <a:pPr marL="0" indent="0">
              <a:buNone/>
            </a:pPr>
            <a:r>
              <a:rPr lang="en-US" sz="2800"/>
              <a:t>[1]. Khương Thị Quỳnh (2017), </a:t>
            </a:r>
            <a:r>
              <a:rPr lang="en-US" sz="2800" i="1"/>
              <a:t>Cơ sở dữ liệu</a:t>
            </a:r>
            <a:r>
              <a:rPr lang="en-US" sz="2800"/>
              <a:t>, Trường ĐH Lâm nghiệp.</a:t>
            </a:r>
          </a:p>
          <a:p>
            <a:pPr marL="0" indent="0">
              <a:buNone/>
            </a:pPr>
            <a:r>
              <a:rPr lang="vi-VN" sz="2800" b="1" i="1"/>
              <a:t>12.2. Tài liệu tham khảo: </a:t>
            </a:r>
            <a:endParaRPr lang="en-US" sz="2800"/>
          </a:p>
          <a:p>
            <a:pPr marL="0" indent="0">
              <a:buNone/>
            </a:pPr>
            <a:r>
              <a:rPr lang="en-US" sz="2800"/>
              <a:t>[1]. PGS.TS Nguyễn Bá Tường (2018), </a:t>
            </a:r>
            <a:r>
              <a:rPr lang="en-US" sz="2800" i="1"/>
              <a:t>Cơ sở dữ liệu quan hệ và ứng dụng</a:t>
            </a:r>
            <a:r>
              <a:rPr lang="en-US" sz="2800"/>
              <a:t>, NXB Thông tin và truyền thông.</a:t>
            </a:r>
          </a:p>
          <a:p>
            <a:pPr marL="0" indent="0">
              <a:buNone/>
            </a:pPr>
            <a:r>
              <a:rPr lang="en-US" sz="2800"/>
              <a:t>[2]. TS. Nguyễn Ngọc Cương - TS. Phạm Thị Anh Lê (2019), </a:t>
            </a:r>
            <a:r>
              <a:rPr lang="en-US" sz="2800" i="1"/>
              <a:t>Lý thuyết CSDL quan hệ và ứng dụng</a:t>
            </a:r>
            <a:r>
              <a:rPr lang="en-US" sz="2800"/>
              <a:t>, NXB Thông tin và truyền thông.</a:t>
            </a:r>
          </a:p>
        </p:txBody>
      </p:sp>
    </p:spTree>
    <p:extLst>
      <p:ext uri="{BB962C8B-B14F-4D97-AF65-F5344CB8AC3E}">
        <p14:creationId xmlns:p14="http://schemas.microsoft.com/office/powerpoint/2010/main" val="2470964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5A92B-6445-CEF9-C447-02E94FC62960}"/>
              </a:ext>
            </a:extLst>
          </p:cNvPr>
          <p:cNvSpPr>
            <a:spLocks noGrp="1"/>
          </p:cNvSpPr>
          <p:nvPr>
            <p:ph type="title"/>
          </p:nvPr>
        </p:nvSpPr>
        <p:spPr>
          <a:xfrm>
            <a:off x="1484311" y="685800"/>
            <a:ext cx="10018713" cy="1131425"/>
          </a:xfrm>
        </p:spPr>
        <p:txBody>
          <a:bodyPr/>
          <a:lstStyle/>
          <a:p>
            <a:r>
              <a:rPr lang="en-US" b="1"/>
              <a:t>MỤC TIÊU HỌC PHẦN</a:t>
            </a:r>
          </a:p>
        </p:txBody>
      </p:sp>
      <p:sp>
        <p:nvSpPr>
          <p:cNvPr id="3" name="Content Placeholder 2">
            <a:extLst>
              <a:ext uri="{FF2B5EF4-FFF2-40B4-BE49-F238E27FC236}">
                <a16:creationId xmlns:a16="http://schemas.microsoft.com/office/drawing/2014/main" id="{A0AF9954-C5C2-7D68-AA75-ED0E84AE9100}"/>
              </a:ext>
            </a:extLst>
          </p:cNvPr>
          <p:cNvSpPr>
            <a:spLocks noGrp="1"/>
          </p:cNvSpPr>
          <p:nvPr>
            <p:ph idx="1"/>
          </p:nvPr>
        </p:nvSpPr>
        <p:spPr>
          <a:xfrm>
            <a:off x="1484310" y="2666999"/>
            <a:ext cx="10018713" cy="3699077"/>
          </a:xfrm>
        </p:spPr>
        <p:txBody>
          <a:bodyPr>
            <a:normAutofit/>
          </a:bodyPr>
          <a:lstStyle/>
          <a:p>
            <a:pPr algn="just"/>
            <a:r>
              <a:rPr lang="en-US" sz="3600"/>
              <a:t>Cung cấp kiến thức cơ bản về cơ sở dữ liệu, với trọng tâm là các khái niệm và mô hình cơ sở dữ liệu quan hệ</a:t>
            </a:r>
          </a:p>
          <a:p>
            <a:pPr algn="just"/>
            <a:r>
              <a:rPr lang="en-US" sz="3600"/>
              <a:t>Sử dụng thành thạo ngôn ngữ SQL để thực hiện các truy vấn và thao tác với dữ liệu trong CSDL.</a:t>
            </a:r>
          </a:p>
          <a:p>
            <a:pPr marL="0" indent="0" algn="just">
              <a:buNone/>
            </a:pPr>
            <a:endParaRPr lang="en-US" sz="3600"/>
          </a:p>
        </p:txBody>
      </p:sp>
    </p:spTree>
    <p:extLst>
      <p:ext uri="{BB962C8B-B14F-4D97-AF65-F5344CB8AC3E}">
        <p14:creationId xmlns:p14="http://schemas.microsoft.com/office/powerpoint/2010/main" val="1460965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A63EA-2638-DB2B-0288-F38155983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1EB75-D1AD-07D5-0FBE-F79B147D9F08}"/>
              </a:ext>
            </a:extLst>
          </p:cNvPr>
          <p:cNvSpPr>
            <a:spLocks noGrp="1"/>
          </p:cNvSpPr>
          <p:nvPr>
            <p:ph type="title"/>
          </p:nvPr>
        </p:nvSpPr>
        <p:spPr>
          <a:xfrm>
            <a:off x="1484311" y="685800"/>
            <a:ext cx="10018713" cy="1131425"/>
          </a:xfrm>
        </p:spPr>
        <p:txBody>
          <a:bodyPr/>
          <a:lstStyle/>
          <a:p>
            <a:r>
              <a:rPr lang="en-US" b="1"/>
              <a:t>NỘI DUNG HỌC PHẦN</a:t>
            </a:r>
          </a:p>
        </p:txBody>
      </p:sp>
      <p:sp>
        <p:nvSpPr>
          <p:cNvPr id="3" name="Content Placeholder 2">
            <a:extLst>
              <a:ext uri="{FF2B5EF4-FFF2-40B4-BE49-F238E27FC236}">
                <a16:creationId xmlns:a16="http://schemas.microsoft.com/office/drawing/2014/main" id="{01E8868F-A291-5C57-E2ED-B7370AAA650B}"/>
              </a:ext>
            </a:extLst>
          </p:cNvPr>
          <p:cNvSpPr>
            <a:spLocks noGrp="1"/>
          </p:cNvSpPr>
          <p:nvPr>
            <p:ph idx="1"/>
          </p:nvPr>
        </p:nvSpPr>
        <p:spPr>
          <a:xfrm>
            <a:off x="1484310" y="2666999"/>
            <a:ext cx="10018713" cy="3699077"/>
          </a:xfrm>
        </p:spPr>
        <p:txBody>
          <a:bodyPr>
            <a:normAutofit/>
          </a:bodyPr>
          <a:lstStyle/>
          <a:p>
            <a:pPr algn="just"/>
            <a:r>
              <a:rPr lang="en-US" sz="3600"/>
              <a:t>Tổng quan về cơ sở dữ liệu</a:t>
            </a:r>
          </a:p>
          <a:p>
            <a:r>
              <a:rPr lang="en-US" sz="3600"/>
              <a:t>Mô hình thực thể liên kết</a:t>
            </a:r>
          </a:p>
          <a:p>
            <a:r>
              <a:rPr lang="en-US" sz="3600"/>
              <a:t>Mô hình cơ sở dữ liệu quan hệ</a:t>
            </a:r>
          </a:p>
          <a:p>
            <a:r>
              <a:rPr lang="en-US" sz="3600"/>
              <a:t>Chuẩn hóa cơ sở dữ liệu và ngôn ngữ truy vấn có cấu trúc (SQL).</a:t>
            </a:r>
          </a:p>
          <a:p>
            <a:pPr marL="0" indent="0" algn="just">
              <a:buNone/>
            </a:pPr>
            <a:endParaRPr lang="en-US" sz="3600"/>
          </a:p>
        </p:txBody>
      </p:sp>
    </p:spTree>
    <p:extLst>
      <p:ext uri="{BB962C8B-B14F-4D97-AF65-F5344CB8AC3E}">
        <p14:creationId xmlns:p14="http://schemas.microsoft.com/office/powerpoint/2010/main" val="2249337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8EDF0-1D42-555B-865E-E5F99D413E80}"/>
              </a:ext>
            </a:extLst>
          </p:cNvPr>
          <p:cNvSpPr>
            <a:spLocks noGrp="1"/>
          </p:cNvSpPr>
          <p:nvPr>
            <p:ph type="title"/>
          </p:nvPr>
        </p:nvSpPr>
        <p:spPr>
          <a:xfrm>
            <a:off x="1484311" y="685800"/>
            <a:ext cx="10018713" cy="1096701"/>
          </a:xfrm>
        </p:spPr>
        <p:txBody>
          <a:bodyPr/>
          <a:lstStyle/>
          <a:p>
            <a:r>
              <a:rPr lang="en-US" b="1"/>
              <a:t>PHÂN PHỐI CHƯƠNG TRÌNH</a:t>
            </a:r>
          </a:p>
        </p:txBody>
      </p:sp>
      <p:sp>
        <p:nvSpPr>
          <p:cNvPr id="3" name="Content Placeholder 2">
            <a:extLst>
              <a:ext uri="{FF2B5EF4-FFF2-40B4-BE49-F238E27FC236}">
                <a16:creationId xmlns:a16="http://schemas.microsoft.com/office/drawing/2014/main" id="{08478B80-29AD-0880-2959-DD91E6C0958A}"/>
              </a:ext>
            </a:extLst>
          </p:cNvPr>
          <p:cNvSpPr>
            <a:spLocks noGrp="1"/>
          </p:cNvSpPr>
          <p:nvPr>
            <p:ph idx="1"/>
          </p:nvPr>
        </p:nvSpPr>
        <p:spPr/>
        <p:txBody>
          <a:bodyPr>
            <a:normAutofit fontScale="92500" lnSpcReduction="10000"/>
          </a:bodyPr>
          <a:lstStyle/>
          <a:p>
            <a:r>
              <a:rPr lang="vi-VN" sz="3600">
                <a:latin typeface="Tahoma" panose="020B0604030504040204" pitchFamily="34" charset="0"/>
                <a:ea typeface="Tahoma" panose="020B0604030504040204" pitchFamily="34" charset="0"/>
                <a:cs typeface="Tahoma" panose="020B0604030504040204" pitchFamily="34" charset="0"/>
              </a:rPr>
              <a:t>Lý thuyết</a:t>
            </a:r>
            <a:r>
              <a:rPr lang="en-US" sz="3600">
                <a:latin typeface="Tahoma" panose="020B0604030504040204" pitchFamily="34" charset="0"/>
                <a:ea typeface="Tahoma" panose="020B0604030504040204" pitchFamily="34" charset="0"/>
                <a:cs typeface="Tahoma" panose="020B0604030504040204" pitchFamily="34" charset="0"/>
              </a:rPr>
              <a:t>		</a:t>
            </a:r>
            <a:r>
              <a:rPr lang="vi-VN" sz="3600">
                <a:latin typeface="Tahoma" panose="020B0604030504040204" pitchFamily="34" charset="0"/>
                <a:ea typeface="Tahoma" panose="020B0604030504040204" pitchFamily="34" charset="0"/>
                <a:cs typeface="Tahoma" panose="020B0604030504040204" pitchFamily="34" charset="0"/>
              </a:rPr>
              <a:t>: </a:t>
            </a:r>
            <a:r>
              <a:rPr lang="en-US" sz="3600">
                <a:latin typeface="Tahoma" panose="020B0604030504040204" pitchFamily="34" charset="0"/>
                <a:ea typeface="Tahoma" panose="020B0604030504040204" pitchFamily="34" charset="0"/>
                <a:cs typeface="Tahoma" panose="020B0604030504040204" pitchFamily="34" charset="0"/>
              </a:rPr>
              <a:t>30 giờ (thực tế: 30 giờ)</a:t>
            </a:r>
          </a:p>
          <a:p>
            <a:r>
              <a:rPr lang="vi-VN" sz="3600">
                <a:latin typeface="Tahoma" panose="020B0604030504040204" pitchFamily="34" charset="0"/>
                <a:ea typeface="Tahoma" panose="020B0604030504040204" pitchFamily="34" charset="0"/>
                <a:cs typeface="Tahoma" panose="020B0604030504040204" pitchFamily="34" charset="0"/>
              </a:rPr>
              <a:t>Bài tập</a:t>
            </a:r>
            <a:r>
              <a:rPr lang="en-US" sz="3600">
                <a:latin typeface="Tahoma" panose="020B0604030504040204" pitchFamily="34" charset="0"/>
                <a:ea typeface="Tahoma" panose="020B0604030504040204" pitchFamily="34" charset="0"/>
                <a:cs typeface="Tahoma" panose="020B0604030504040204" pitchFamily="34" charset="0"/>
              </a:rPr>
              <a:t>		</a:t>
            </a:r>
            <a:r>
              <a:rPr lang="vi-VN" sz="3600">
                <a:latin typeface="Tahoma" panose="020B0604030504040204" pitchFamily="34" charset="0"/>
                <a:ea typeface="Tahoma" panose="020B0604030504040204" pitchFamily="34" charset="0"/>
                <a:cs typeface="Tahoma" panose="020B0604030504040204" pitchFamily="34" charset="0"/>
              </a:rPr>
              <a:t>: </a:t>
            </a:r>
            <a:r>
              <a:rPr lang="en-US" sz="3600">
                <a:latin typeface="Tahoma" panose="020B0604030504040204" pitchFamily="34" charset="0"/>
                <a:ea typeface="Tahoma" panose="020B0604030504040204" pitchFamily="34" charset="0"/>
                <a:cs typeface="Tahoma" panose="020B0604030504040204" pitchFamily="34" charset="0"/>
              </a:rPr>
              <a:t>15 giờ (thực tế: 30 giờ)</a:t>
            </a:r>
          </a:p>
          <a:p>
            <a:r>
              <a:rPr lang="en-US" sz="3600">
                <a:latin typeface="Tahoma" panose="020B0604030504040204" pitchFamily="34" charset="0"/>
                <a:ea typeface="Tahoma" panose="020B0604030504040204" pitchFamily="34" charset="0"/>
                <a:cs typeface="Tahoma" panose="020B0604030504040204" pitchFamily="34" charset="0"/>
              </a:rPr>
              <a:t>Thảo luận		: 0 giờ</a:t>
            </a:r>
          </a:p>
          <a:p>
            <a:r>
              <a:rPr lang="en-US" sz="3600">
                <a:latin typeface="Tahoma" panose="020B0604030504040204" pitchFamily="34" charset="0"/>
                <a:ea typeface="Tahoma" panose="020B0604030504040204" pitchFamily="34" charset="0"/>
                <a:cs typeface="Tahoma" panose="020B0604030504040204" pitchFamily="34" charset="0"/>
              </a:rPr>
              <a:t>Thực hành		: 0 giờ</a:t>
            </a:r>
          </a:p>
          <a:p>
            <a:r>
              <a:rPr lang="vi-VN" sz="3600">
                <a:latin typeface="Tahoma" panose="020B0604030504040204" pitchFamily="34" charset="0"/>
                <a:ea typeface="Tahoma" panose="020B0604030504040204" pitchFamily="34" charset="0"/>
                <a:cs typeface="Tahoma" panose="020B0604030504040204" pitchFamily="34" charset="0"/>
              </a:rPr>
              <a:t>Tự học</a:t>
            </a:r>
            <a:r>
              <a:rPr lang="en-US" sz="3600">
                <a:latin typeface="Tahoma" panose="020B0604030504040204" pitchFamily="34" charset="0"/>
                <a:ea typeface="Tahoma" panose="020B0604030504040204" pitchFamily="34" charset="0"/>
                <a:cs typeface="Tahoma" panose="020B0604030504040204" pitchFamily="34" charset="0"/>
              </a:rPr>
              <a:t>		</a:t>
            </a:r>
            <a:r>
              <a:rPr lang="vi-VN" sz="3600">
                <a:latin typeface="Tahoma" panose="020B0604030504040204" pitchFamily="34" charset="0"/>
                <a:ea typeface="Tahoma" panose="020B0604030504040204" pitchFamily="34" charset="0"/>
                <a:cs typeface="Tahoma" panose="020B0604030504040204" pitchFamily="34" charset="0"/>
              </a:rPr>
              <a:t>: </a:t>
            </a:r>
            <a:r>
              <a:rPr lang="en-US" sz="3600">
                <a:latin typeface="Tahoma" panose="020B0604030504040204" pitchFamily="34" charset="0"/>
                <a:ea typeface="Tahoma" panose="020B0604030504040204" pitchFamily="34" charset="0"/>
                <a:cs typeface="Tahoma" panose="020B0604030504040204" pitchFamily="34" charset="0"/>
              </a:rPr>
              <a:t>75 giờ</a:t>
            </a:r>
          </a:p>
        </p:txBody>
      </p:sp>
    </p:spTree>
    <p:extLst>
      <p:ext uri="{BB962C8B-B14F-4D97-AF65-F5344CB8AC3E}">
        <p14:creationId xmlns:p14="http://schemas.microsoft.com/office/powerpoint/2010/main" val="2019832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D3F27-F863-CDE9-0FCC-0060D438FEBB}"/>
              </a:ext>
            </a:extLst>
          </p:cNvPr>
          <p:cNvSpPr>
            <a:spLocks noGrp="1"/>
          </p:cNvSpPr>
          <p:nvPr>
            <p:ph type="title"/>
          </p:nvPr>
        </p:nvSpPr>
        <p:spPr/>
        <p:txBody>
          <a:bodyPr/>
          <a:lstStyle/>
          <a:p>
            <a:r>
              <a:rPr lang="en-US" b="1"/>
              <a:t>CHƯƠNG 1. TỔNG QUAN VỀ CSDL</a:t>
            </a:r>
          </a:p>
        </p:txBody>
      </p:sp>
      <p:graphicFrame>
        <p:nvGraphicFramePr>
          <p:cNvPr id="4" name="Content Placeholder 3">
            <a:extLst>
              <a:ext uri="{FF2B5EF4-FFF2-40B4-BE49-F238E27FC236}">
                <a16:creationId xmlns:a16="http://schemas.microsoft.com/office/drawing/2014/main" id="{A675016C-1A30-8F06-5189-41408177A6AA}"/>
              </a:ext>
            </a:extLst>
          </p:cNvPr>
          <p:cNvGraphicFramePr>
            <a:graphicFrameLocks noGrp="1"/>
          </p:cNvGraphicFramePr>
          <p:nvPr>
            <p:ph idx="1"/>
            <p:extLst>
              <p:ext uri="{D42A27DB-BD31-4B8C-83A1-F6EECF244321}">
                <p14:modId xmlns:p14="http://schemas.microsoft.com/office/powerpoint/2010/main" val="3546853792"/>
              </p:ext>
            </p:extLst>
          </p:nvPr>
        </p:nvGraphicFramePr>
        <p:xfrm>
          <a:off x="1484313" y="2581153"/>
          <a:ext cx="10018712" cy="34376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3746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A70893-B600-B844-279B-C928857423AF}"/>
              </a:ext>
            </a:extLst>
          </p:cNvPr>
          <p:cNvSpPr>
            <a:spLocks noGrp="1"/>
          </p:cNvSpPr>
          <p:nvPr>
            <p:ph idx="1"/>
          </p:nvPr>
        </p:nvSpPr>
        <p:spPr>
          <a:xfrm>
            <a:off x="1484310" y="1817225"/>
            <a:ext cx="10018713" cy="4002550"/>
          </a:xfrm>
        </p:spPr>
        <p:txBody>
          <a:bodyPr>
            <a:noAutofit/>
          </a:bodyPr>
          <a:lstStyle/>
          <a:p>
            <a:pPr algn="just"/>
            <a:r>
              <a:rPr lang="vi-VN" sz="3200" b="1">
                <a:latin typeface="Corbel" panose="020B0503020204020204" pitchFamily="34" charset="0"/>
              </a:rPr>
              <a:t>Khái niệm:</a:t>
            </a:r>
            <a:r>
              <a:rPr lang="vi-VN" sz="3200">
                <a:latin typeface="Corbel" panose="020B0503020204020204" pitchFamily="34" charset="0"/>
              </a:rPr>
              <a:t> Dữ liệu là các thông tin của đối tượng được lưu trữ trên máy tính.</a:t>
            </a:r>
            <a:endParaRPr lang="en-US" sz="3200">
              <a:latin typeface="Corbel" panose="020B0503020204020204" pitchFamily="34" charset="0"/>
            </a:endParaRPr>
          </a:p>
          <a:p>
            <a:pPr algn="just"/>
            <a:r>
              <a:rPr lang="vi-VN" sz="3200" b="1">
                <a:latin typeface="Corbel" panose="020B0503020204020204" pitchFamily="34" charset="0"/>
              </a:rPr>
              <a:t>Đặc điểm:</a:t>
            </a:r>
            <a:endParaRPr lang="vi-VN" sz="3200">
              <a:latin typeface="Corbel" panose="020B0503020204020204" pitchFamily="34" charset="0"/>
            </a:endParaRPr>
          </a:p>
          <a:p>
            <a:pPr lvl="1" algn="just"/>
            <a:r>
              <a:rPr lang="vi-VN" sz="2800">
                <a:latin typeface="Corbel" panose="020B0503020204020204" pitchFamily="34" charset="0"/>
              </a:rPr>
              <a:t>Được lưu trữ dưới nhiều dạng khác nhau: ký tự, hình ảnh, âm thanh…</a:t>
            </a:r>
          </a:p>
          <a:p>
            <a:pPr lvl="1" algn="just"/>
            <a:r>
              <a:rPr lang="vi-VN" sz="2800">
                <a:latin typeface="Corbel" panose="020B0503020204020204" pitchFamily="34" charset="0"/>
              </a:rPr>
              <a:t>Dữ liệu về cùng một đối tượng có thể khác nhau tùy ngữ cảnh</a:t>
            </a:r>
          </a:p>
          <a:p>
            <a:pPr algn="just"/>
            <a:endParaRPr lang="en-US" sz="3200">
              <a:latin typeface="Corbel" panose="020B0503020204020204" pitchFamily="34" charset="0"/>
            </a:endParaRPr>
          </a:p>
        </p:txBody>
      </p:sp>
      <p:grpSp>
        <p:nvGrpSpPr>
          <p:cNvPr id="7" name="Group 6">
            <a:extLst>
              <a:ext uri="{FF2B5EF4-FFF2-40B4-BE49-F238E27FC236}">
                <a16:creationId xmlns:a16="http://schemas.microsoft.com/office/drawing/2014/main" id="{84D2181B-DBCE-1E91-9CED-A22203A79396}"/>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BC5858F0-6986-5E4D-6993-EDEBA6CBED89}"/>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C077848D-4BB3-1DA0-2260-659D26F0ADDF}"/>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Dữ liệu</a:t>
              </a:r>
            </a:p>
          </p:txBody>
        </p:sp>
      </p:grpSp>
      <p:sp>
        <p:nvSpPr>
          <p:cNvPr id="8" name="Oval 7">
            <a:extLst>
              <a:ext uri="{FF2B5EF4-FFF2-40B4-BE49-F238E27FC236}">
                <a16:creationId xmlns:a16="http://schemas.microsoft.com/office/drawing/2014/main" id="{9EA0A7C4-3BED-EEAA-3A98-2268751268B4}"/>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991305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FC42F-0167-74F4-8D53-6060633B56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51ACEE-174C-D683-1D7B-65894D83043E}"/>
              </a:ext>
            </a:extLst>
          </p:cNvPr>
          <p:cNvSpPr>
            <a:spLocks noGrp="1"/>
          </p:cNvSpPr>
          <p:nvPr>
            <p:ph idx="1"/>
          </p:nvPr>
        </p:nvSpPr>
        <p:spPr>
          <a:xfrm>
            <a:off x="1484310" y="1600201"/>
            <a:ext cx="10018713" cy="3314700"/>
          </a:xfrm>
        </p:spPr>
        <p:txBody>
          <a:bodyPr>
            <a:noAutofit/>
          </a:bodyPr>
          <a:lstStyle/>
          <a:p>
            <a:pPr marL="0" indent="0" algn="just">
              <a:buNone/>
            </a:pPr>
            <a:r>
              <a:rPr lang="en-US" sz="3600">
                <a:latin typeface="Corbel" panose="020B0503020204020204" pitchFamily="34" charset="0"/>
              </a:rPr>
              <a:t>Là </a:t>
            </a:r>
            <a:r>
              <a:rPr lang="vi-VN" sz="3600">
                <a:latin typeface="Corbel" panose="020B0503020204020204" pitchFamily="34" charset="0"/>
              </a:rPr>
              <a:t>một quá </a:t>
            </a:r>
            <a:r>
              <a:rPr lang="vi-VN" sz="3600" b="1">
                <a:latin typeface="Corbel" panose="020B0503020204020204" pitchFamily="34" charset="0"/>
              </a:rPr>
              <a:t>trình thu thập, lưu trữ và duy trì dữ liệu </a:t>
            </a:r>
            <a:r>
              <a:rPr lang="vi-VN" sz="3600">
                <a:latin typeface="Corbel" panose="020B0503020204020204" pitchFamily="34" charset="0"/>
              </a:rPr>
              <a:t>trong một tổ chức, đảm bảo dữ liệu có điều kiện phù hợp để hỗ trợ các hoạt động </a:t>
            </a:r>
            <a:r>
              <a:rPr lang="en-US" sz="3600">
                <a:latin typeface="Corbel" panose="020B0503020204020204" pitchFamily="34" charset="0"/>
              </a:rPr>
              <a:t>chuyên môn nghiệp vụ </a:t>
            </a:r>
            <a:r>
              <a:rPr lang="vi-VN" sz="3600">
                <a:latin typeface="Corbel" panose="020B0503020204020204" pitchFamily="34" charset="0"/>
              </a:rPr>
              <a:t>và ra quyết định. </a:t>
            </a:r>
            <a:endParaRPr lang="en-US" sz="3600">
              <a:latin typeface="Corbel" panose="020B0503020204020204" pitchFamily="34" charset="0"/>
            </a:endParaRPr>
          </a:p>
        </p:txBody>
      </p:sp>
      <p:grpSp>
        <p:nvGrpSpPr>
          <p:cNvPr id="7" name="Group 6">
            <a:extLst>
              <a:ext uri="{FF2B5EF4-FFF2-40B4-BE49-F238E27FC236}">
                <a16:creationId xmlns:a16="http://schemas.microsoft.com/office/drawing/2014/main" id="{4EE7D837-A663-23BE-EECA-FDD024922655}"/>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B7A4F357-CB7D-6E9A-B6E9-2578C41F4007}"/>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70E7BC87-8E7C-8631-0E97-05B6441CE80D}"/>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a:t>
              </a:r>
            </a:p>
          </p:txBody>
        </p:sp>
      </p:grpSp>
      <p:sp>
        <p:nvSpPr>
          <p:cNvPr id="8" name="Oval 7">
            <a:extLst>
              <a:ext uri="{FF2B5EF4-FFF2-40B4-BE49-F238E27FC236}">
                <a16:creationId xmlns:a16="http://schemas.microsoft.com/office/drawing/2014/main" id="{2073F1EE-F32A-81C8-11AE-45EE3F54BD8D}"/>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66212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C8AB5-5867-7CFA-93CA-2B283E4F30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EDEA2-94E7-4588-0842-85CB1B494C76}"/>
              </a:ext>
            </a:extLst>
          </p:cNvPr>
          <p:cNvSpPr>
            <a:spLocks noGrp="1"/>
          </p:cNvSpPr>
          <p:nvPr>
            <p:ph idx="1"/>
          </p:nvPr>
        </p:nvSpPr>
        <p:spPr>
          <a:xfrm>
            <a:off x="1484310" y="1817225"/>
            <a:ext cx="10018713" cy="2176041"/>
          </a:xfrm>
        </p:spPr>
        <p:txBody>
          <a:bodyPr>
            <a:noAutofit/>
          </a:bodyPr>
          <a:lstStyle/>
          <a:p>
            <a:r>
              <a:rPr lang="vi-VN" sz="3200" b="1">
                <a:latin typeface="Corbel" panose="020B0503020204020204" pitchFamily="34" charset="0"/>
              </a:rPr>
              <a:t>Phương pháp quản lý dữ liệu:</a:t>
            </a:r>
            <a:endParaRPr lang="vi-VN" sz="3200">
              <a:latin typeface="Corbel" panose="020B0503020204020204" pitchFamily="34" charset="0"/>
            </a:endParaRPr>
          </a:p>
          <a:p>
            <a:pPr lvl="1"/>
            <a:r>
              <a:rPr lang="vi-VN" sz="2800">
                <a:latin typeface="Corbel" panose="020B0503020204020204" pitchFamily="34" charset="0"/>
              </a:rPr>
              <a:t>Quản lý bằng </a:t>
            </a:r>
            <a:r>
              <a:rPr lang="vi-VN" sz="2800" b="1">
                <a:latin typeface="Corbel" panose="020B0503020204020204" pitchFamily="34" charset="0"/>
              </a:rPr>
              <a:t>file</a:t>
            </a:r>
            <a:endParaRPr lang="vi-VN" sz="2800">
              <a:latin typeface="Corbel" panose="020B0503020204020204" pitchFamily="34" charset="0"/>
            </a:endParaRPr>
          </a:p>
          <a:p>
            <a:pPr lvl="1"/>
            <a:r>
              <a:rPr lang="vi-VN" sz="2800">
                <a:latin typeface="Corbel" panose="020B0503020204020204" pitchFamily="34" charset="0"/>
              </a:rPr>
              <a:t>Quản lý bằng </a:t>
            </a:r>
            <a:r>
              <a:rPr lang="vi-VN" sz="2800" b="1">
                <a:latin typeface="Corbel" panose="020B0503020204020204" pitchFamily="34" charset="0"/>
              </a:rPr>
              <a:t>cơ sở dữ liệu (CSDL)</a:t>
            </a:r>
            <a:endParaRPr lang="vi-VN" sz="2800">
              <a:latin typeface="Corbel" panose="020B0503020204020204" pitchFamily="34" charset="0"/>
            </a:endParaRPr>
          </a:p>
        </p:txBody>
      </p:sp>
      <p:grpSp>
        <p:nvGrpSpPr>
          <p:cNvPr id="7" name="Group 6">
            <a:extLst>
              <a:ext uri="{FF2B5EF4-FFF2-40B4-BE49-F238E27FC236}">
                <a16:creationId xmlns:a16="http://schemas.microsoft.com/office/drawing/2014/main" id="{9EC07958-D57F-E9B9-1583-C0BE67FA86FF}"/>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B50B617B-F135-D459-250C-14B3723E0798}"/>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897C741F-A911-ABF8-226B-9CF07F6C1628}"/>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a:t>
              </a:r>
            </a:p>
          </p:txBody>
        </p:sp>
      </p:grpSp>
      <p:sp>
        <p:nvSpPr>
          <p:cNvPr id="8" name="Oval 7">
            <a:extLst>
              <a:ext uri="{FF2B5EF4-FFF2-40B4-BE49-F238E27FC236}">
                <a16:creationId xmlns:a16="http://schemas.microsoft.com/office/drawing/2014/main" id="{78B2FCE5-187D-A76B-06E8-3D14776F9268}"/>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88338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5DE2F-B6F4-2D0E-B68C-557838BE3B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56F7AE-27C5-A664-950E-BEF94DF32BF8}"/>
              </a:ext>
            </a:extLst>
          </p:cNvPr>
          <p:cNvSpPr>
            <a:spLocks noGrp="1"/>
          </p:cNvSpPr>
          <p:nvPr>
            <p:ph idx="1"/>
          </p:nvPr>
        </p:nvSpPr>
        <p:spPr>
          <a:xfrm>
            <a:off x="1484310" y="1817225"/>
            <a:ext cx="10018713" cy="2176041"/>
          </a:xfrm>
        </p:spPr>
        <p:txBody>
          <a:bodyPr>
            <a:noAutofit/>
          </a:bodyPr>
          <a:lstStyle/>
          <a:p>
            <a:pPr algn="just"/>
            <a:r>
              <a:rPr lang="vi-VN" sz="3200">
                <a:latin typeface="Corbel" panose="020B0503020204020204" pitchFamily="34" charset="0"/>
              </a:rPr>
              <a:t>Dữ liệu được lưu trữ trực tiếp trong các tệp (file) riêng lẻ trên hệ thống máy tính. </a:t>
            </a:r>
            <a:endParaRPr lang="en-US" sz="3200">
              <a:latin typeface="Corbel" panose="020B0503020204020204" pitchFamily="34" charset="0"/>
            </a:endParaRPr>
          </a:p>
          <a:p>
            <a:pPr algn="just"/>
            <a:r>
              <a:rPr lang="vi-VN" sz="3200">
                <a:latin typeface="Corbel" panose="020B0503020204020204" pitchFamily="34" charset="0"/>
              </a:rPr>
              <a:t>Mỗi file thường chứa thông tin về một đối tượng hoặc một nhóm đối tượng.</a:t>
            </a:r>
            <a:endParaRPr lang="vi-VN" sz="2800">
              <a:latin typeface="Corbel" panose="020B0503020204020204" pitchFamily="34" charset="0"/>
            </a:endParaRPr>
          </a:p>
        </p:txBody>
      </p:sp>
      <p:grpSp>
        <p:nvGrpSpPr>
          <p:cNvPr id="7" name="Group 6">
            <a:extLst>
              <a:ext uri="{FF2B5EF4-FFF2-40B4-BE49-F238E27FC236}">
                <a16:creationId xmlns:a16="http://schemas.microsoft.com/office/drawing/2014/main" id="{D3FB1886-8A49-A4EF-E5C3-2F095983C494}"/>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F80EB2FF-C423-8FC3-2733-C1DA1DB5D7B5}"/>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FB03A724-BD6B-EF22-F8C7-1CCC9AD812E1}"/>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file</a:t>
              </a:r>
            </a:p>
          </p:txBody>
        </p:sp>
      </p:grpSp>
      <p:sp>
        <p:nvSpPr>
          <p:cNvPr id="8" name="Oval 7">
            <a:extLst>
              <a:ext uri="{FF2B5EF4-FFF2-40B4-BE49-F238E27FC236}">
                <a16:creationId xmlns:a16="http://schemas.microsoft.com/office/drawing/2014/main" id="{6E054912-46D6-B356-2CE6-BF06834D2EF4}"/>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3772269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BDF7E-9B68-A62B-1061-43F9335B8F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9897B8-4329-87B8-59A4-D3CFD0D11529}"/>
              </a:ext>
            </a:extLst>
          </p:cNvPr>
          <p:cNvSpPr>
            <a:spLocks noGrp="1"/>
          </p:cNvSpPr>
          <p:nvPr>
            <p:ph idx="1"/>
          </p:nvPr>
        </p:nvSpPr>
        <p:spPr>
          <a:xfrm>
            <a:off x="1484310" y="1817225"/>
            <a:ext cx="10018713" cy="3631075"/>
          </a:xfrm>
        </p:spPr>
        <p:txBody>
          <a:bodyPr>
            <a:noAutofit/>
          </a:bodyPr>
          <a:lstStyle/>
          <a:p>
            <a:r>
              <a:rPr lang="vi-VN" sz="3200" b="1">
                <a:latin typeface="Corbel" panose="020B0503020204020204" pitchFamily="34" charset="0"/>
              </a:rPr>
              <a:t>Đặc điểm:</a:t>
            </a:r>
            <a:endParaRPr lang="vi-VN" sz="3200">
              <a:latin typeface="Corbel" panose="020B0503020204020204" pitchFamily="34" charset="0"/>
            </a:endParaRPr>
          </a:p>
          <a:p>
            <a:pPr lvl="1" algn="just"/>
            <a:r>
              <a:rPr lang="vi-VN" sz="2800">
                <a:latin typeface="Corbel" panose="020B0503020204020204" pitchFamily="34" charset="0"/>
              </a:rPr>
              <a:t>Đơn giản, dễ triển khai</a:t>
            </a:r>
          </a:p>
          <a:p>
            <a:pPr lvl="1" algn="just"/>
            <a:r>
              <a:rPr lang="vi-VN" sz="2800">
                <a:latin typeface="Corbel" panose="020B0503020204020204" pitchFamily="34" charset="0"/>
              </a:rPr>
              <a:t>Không có sự liên kết chặt chẽ giữa các file</a:t>
            </a:r>
          </a:p>
          <a:p>
            <a:pPr lvl="1" algn="just"/>
            <a:r>
              <a:rPr lang="vi-VN" sz="2800">
                <a:latin typeface="Corbel" panose="020B0503020204020204" pitchFamily="34" charset="0"/>
              </a:rPr>
              <a:t>Khó khăn trong việc truy xuất dữ liệu phức tạp</a:t>
            </a:r>
          </a:p>
          <a:p>
            <a:pPr lvl="1" algn="just"/>
            <a:r>
              <a:rPr lang="vi-VN" sz="2800">
                <a:latin typeface="Corbel" panose="020B0503020204020204" pitchFamily="34" charset="0"/>
              </a:rPr>
              <a:t>Dễ xảy ra trùng lặp dữ liệu và khó đảm bảo tính nhất quán</a:t>
            </a:r>
          </a:p>
          <a:p>
            <a:pPr marL="173038" lvl="1" indent="0" algn="just">
              <a:buNone/>
            </a:pPr>
            <a:r>
              <a:rPr lang="vi-VN" sz="3200"/>
              <a:t>.</a:t>
            </a:r>
          </a:p>
        </p:txBody>
      </p:sp>
      <p:grpSp>
        <p:nvGrpSpPr>
          <p:cNvPr id="7" name="Group 6">
            <a:extLst>
              <a:ext uri="{FF2B5EF4-FFF2-40B4-BE49-F238E27FC236}">
                <a16:creationId xmlns:a16="http://schemas.microsoft.com/office/drawing/2014/main" id="{1616FB73-070E-CC64-98F0-B3E1550B88E5}"/>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46255A8C-81D2-E501-7DCB-70731303A61D}"/>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F668F694-A519-B5E1-D38B-19659D3892F6}"/>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file</a:t>
              </a:r>
            </a:p>
          </p:txBody>
        </p:sp>
      </p:grpSp>
      <p:sp>
        <p:nvSpPr>
          <p:cNvPr id="8" name="Oval 7">
            <a:extLst>
              <a:ext uri="{FF2B5EF4-FFF2-40B4-BE49-F238E27FC236}">
                <a16:creationId xmlns:a16="http://schemas.microsoft.com/office/drawing/2014/main" id="{47DB71A6-5029-A141-61B1-6397BEECF149}"/>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880389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E8093-86ED-D7D4-C070-B9F23D26D6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3A432D-562E-74A4-B7FB-D25662AA713C}"/>
              </a:ext>
            </a:extLst>
          </p:cNvPr>
          <p:cNvSpPr>
            <a:spLocks noGrp="1"/>
          </p:cNvSpPr>
          <p:nvPr>
            <p:ph idx="1"/>
          </p:nvPr>
        </p:nvSpPr>
        <p:spPr>
          <a:xfrm>
            <a:off x="1484310" y="1817225"/>
            <a:ext cx="10018713" cy="4236334"/>
          </a:xfrm>
        </p:spPr>
        <p:txBody>
          <a:bodyPr>
            <a:noAutofit/>
          </a:bodyPr>
          <a:lstStyle/>
          <a:p>
            <a:r>
              <a:rPr lang="vi-VN" sz="3200" b="1">
                <a:latin typeface="Corbel" panose="020B0503020204020204" pitchFamily="34" charset="0"/>
              </a:rPr>
              <a:t>Ví dụ minh họa:</a:t>
            </a:r>
            <a:endParaRPr lang="vi-VN" sz="3200">
              <a:latin typeface="Corbel" panose="020B0503020204020204" pitchFamily="34" charset="0"/>
            </a:endParaRPr>
          </a:p>
          <a:p>
            <a:pPr marL="0" indent="0">
              <a:buNone/>
            </a:pPr>
            <a:r>
              <a:rPr lang="vi-VN" sz="3200">
                <a:latin typeface="Corbel" panose="020B0503020204020204" pitchFamily="34" charset="0"/>
              </a:rPr>
              <a:t>Một hệ thống quản lý sinh viên lưu trữ:</a:t>
            </a:r>
          </a:p>
          <a:p>
            <a:pPr marL="857250" lvl="1" indent="-400050" algn="just">
              <a:buFont typeface="Wingdings" panose="05000000000000000000" pitchFamily="2" charset="2"/>
              <a:buChar char="§"/>
            </a:pPr>
            <a:r>
              <a:rPr lang="vi-VN" sz="3200">
                <a:latin typeface="Corbel" panose="020B0503020204020204" pitchFamily="34" charset="0"/>
              </a:rPr>
              <a:t>File </a:t>
            </a:r>
            <a:r>
              <a:rPr lang="vi-VN" sz="3200" i="1">
                <a:latin typeface="Corbel" panose="020B0503020204020204" pitchFamily="34" charset="0"/>
              </a:rPr>
              <a:t>sinhvien.txt </a:t>
            </a:r>
            <a:r>
              <a:rPr lang="vi-VN" sz="3200">
                <a:latin typeface="Corbel" panose="020B0503020204020204" pitchFamily="34" charset="0"/>
              </a:rPr>
              <a:t>chứa danh sách sinh viên</a:t>
            </a:r>
          </a:p>
          <a:p>
            <a:pPr marL="857250" lvl="1" indent="-400050" algn="just">
              <a:buFont typeface="Wingdings" panose="05000000000000000000" pitchFamily="2" charset="2"/>
              <a:buChar char="§"/>
            </a:pPr>
            <a:r>
              <a:rPr lang="vi-VN" sz="3200">
                <a:latin typeface="Corbel" panose="020B0503020204020204" pitchFamily="34" charset="0"/>
              </a:rPr>
              <a:t>File </a:t>
            </a:r>
            <a:r>
              <a:rPr lang="vi-VN" sz="3200" i="1">
                <a:latin typeface="Corbel" panose="020B0503020204020204" pitchFamily="34" charset="0"/>
              </a:rPr>
              <a:t>monhoc.txt </a:t>
            </a:r>
            <a:r>
              <a:rPr lang="vi-VN" sz="3200">
                <a:latin typeface="Corbel" panose="020B0503020204020204" pitchFamily="34" charset="0"/>
              </a:rPr>
              <a:t>chứa danh sách môn học</a:t>
            </a:r>
          </a:p>
          <a:p>
            <a:pPr marL="857250" lvl="1" indent="-400050" algn="just">
              <a:buFont typeface="Wingdings" panose="05000000000000000000" pitchFamily="2" charset="2"/>
              <a:buChar char="§"/>
            </a:pPr>
            <a:r>
              <a:rPr lang="vi-VN" sz="3200">
                <a:latin typeface="Corbel" panose="020B0503020204020204" pitchFamily="34" charset="0"/>
              </a:rPr>
              <a:t>File </a:t>
            </a:r>
            <a:r>
              <a:rPr lang="vi-VN" sz="3200" i="1">
                <a:latin typeface="Corbel" panose="020B0503020204020204" pitchFamily="34" charset="0"/>
              </a:rPr>
              <a:t>dangky.txt </a:t>
            </a:r>
            <a:r>
              <a:rPr lang="vi-VN" sz="3200">
                <a:latin typeface="Corbel" panose="020B0503020204020204" pitchFamily="34" charset="0"/>
              </a:rPr>
              <a:t>chứa thông tin đăng ký môn học</a:t>
            </a:r>
            <a:endParaRPr lang="en-US" sz="3200">
              <a:latin typeface="Corbel" panose="020B0503020204020204" pitchFamily="34" charset="0"/>
            </a:endParaRPr>
          </a:p>
          <a:p>
            <a:pPr marL="173038" lvl="1" indent="0" algn="just">
              <a:buNone/>
            </a:pPr>
            <a:r>
              <a:rPr lang="vi-VN" sz="3200">
                <a:latin typeface="Corbel" panose="020B0503020204020204" pitchFamily="34" charset="0"/>
              </a:rPr>
              <a:t>→ Khi cần tra cứu sinh viên đã đăng ký môn nào, phải mở nhiều file và xử lý thủ công.</a:t>
            </a:r>
          </a:p>
        </p:txBody>
      </p:sp>
      <p:grpSp>
        <p:nvGrpSpPr>
          <p:cNvPr id="7" name="Group 6">
            <a:extLst>
              <a:ext uri="{FF2B5EF4-FFF2-40B4-BE49-F238E27FC236}">
                <a16:creationId xmlns:a16="http://schemas.microsoft.com/office/drawing/2014/main" id="{35E12263-6AF1-68F6-0481-A58EAF2DF062}"/>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6FA76F23-F437-C716-FD6B-7F95C663DEB7}"/>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E4109C06-5374-0022-87C1-BF5733298B13}"/>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file</a:t>
              </a:r>
            </a:p>
          </p:txBody>
        </p:sp>
      </p:grpSp>
      <p:sp>
        <p:nvSpPr>
          <p:cNvPr id="8" name="Oval 7">
            <a:extLst>
              <a:ext uri="{FF2B5EF4-FFF2-40B4-BE49-F238E27FC236}">
                <a16:creationId xmlns:a16="http://schemas.microsoft.com/office/drawing/2014/main" id="{54F23DE5-E56F-2C7C-7123-753369562270}"/>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524419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42DE5-7F7D-5349-47CD-D324E16241D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F63AFD-9AAD-0088-1B0C-4DD947A9AB75}"/>
              </a:ext>
            </a:extLst>
          </p:cNvPr>
          <p:cNvSpPr>
            <a:spLocks noGrp="1"/>
          </p:cNvSpPr>
          <p:nvPr>
            <p:ph idx="1"/>
          </p:nvPr>
        </p:nvSpPr>
        <p:spPr>
          <a:xfrm>
            <a:off x="1484310" y="1817224"/>
            <a:ext cx="10018713" cy="2954801"/>
          </a:xfrm>
        </p:spPr>
        <p:txBody>
          <a:bodyPr>
            <a:noAutofit/>
          </a:bodyPr>
          <a:lstStyle/>
          <a:p>
            <a:pPr algn="just"/>
            <a:r>
              <a:rPr lang="vi-VN" sz="3200">
                <a:latin typeface="Corbel" panose="020B0503020204020204" pitchFamily="34" charset="0"/>
              </a:rPr>
              <a:t>Quản lý dữ liệu bằng cơ sở dữ liệu là cách dùng phần mềm để lưu trữ và </a:t>
            </a:r>
            <a:r>
              <a:rPr lang="en-US" sz="3200"/>
              <a:t>khai thác dữ liệu </a:t>
            </a:r>
            <a:r>
              <a:rPr lang="vi-VN" sz="3200">
                <a:latin typeface="Corbel" panose="020B0503020204020204" pitchFamily="34" charset="0"/>
              </a:rPr>
              <a:t>một cách </a:t>
            </a:r>
            <a:r>
              <a:rPr lang="en-US" sz="3200">
                <a:latin typeface="Corbel" panose="020B0503020204020204" pitchFamily="34" charset="0"/>
              </a:rPr>
              <a:t>khoa học và có</a:t>
            </a:r>
            <a:r>
              <a:rPr lang="vi-VN" sz="3200">
                <a:latin typeface="Corbel" panose="020B0503020204020204" pitchFamily="34" charset="0"/>
              </a:rPr>
              <a:t> hệ thống, </a:t>
            </a:r>
            <a:r>
              <a:rPr lang="en-US" sz="3200"/>
              <a:t>thay vì để dữ liệu rời rạc trong nhiều file khác nhau.</a:t>
            </a:r>
          </a:p>
        </p:txBody>
      </p:sp>
      <p:grpSp>
        <p:nvGrpSpPr>
          <p:cNvPr id="7" name="Group 6">
            <a:extLst>
              <a:ext uri="{FF2B5EF4-FFF2-40B4-BE49-F238E27FC236}">
                <a16:creationId xmlns:a16="http://schemas.microsoft.com/office/drawing/2014/main" id="{2CD9DA15-D077-D97E-8099-DAD33F20C354}"/>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12B33289-F046-E46C-B7F8-BB7BD8DCC770}"/>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C3CE6FB8-9919-4AA7-5DF2-F28361BDE2E7}"/>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CSDL</a:t>
              </a:r>
            </a:p>
          </p:txBody>
        </p:sp>
      </p:grpSp>
      <p:sp>
        <p:nvSpPr>
          <p:cNvPr id="8" name="Oval 7">
            <a:extLst>
              <a:ext uri="{FF2B5EF4-FFF2-40B4-BE49-F238E27FC236}">
                <a16:creationId xmlns:a16="http://schemas.microsoft.com/office/drawing/2014/main" id="{2C3CEE9D-63BE-E4AF-208E-10D31F6C1C50}"/>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309269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26F7F-1320-0500-6CB9-54E256672E4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E4B395-2C9D-924B-362A-928B7BA91041}"/>
              </a:ext>
            </a:extLst>
          </p:cNvPr>
          <p:cNvSpPr>
            <a:spLocks noGrp="1"/>
          </p:cNvSpPr>
          <p:nvPr>
            <p:ph idx="1"/>
          </p:nvPr>
        </p:nvSpPr>
        <p:spPr>
          <a:xfrm>
            <a:off x="1484310" y="1817225"/>
            <a:ext cx="10018713" cy="4236334"/>
          </a:xfrm>
        </p:spPr>
        <p:txBody>
          <a:bodyPr>
            <a:noAutofit/>
          </a:bodyPr>
          <a:lstStyle/>
          <a:p>
            <a:pPr algn="just"/>
            <a:r>
              <a:rPr lang="vi-VN" sz="3200" b="1"/>
              <a:t>Đặc điểm:</a:t>
            </a:r>
            <a:endParaRPr lang="vi-VN" sz="3200"/>
          </a:p>
          <a:p>
            <a:pPr lvl="1" algn="just"/>
            <a:r>
              <a:rPr lang="vi-VN" sz="2800"/>
              <a:t>Dữ liệu được tổ chức theo mô hình</a:t>
            </a:r>
          </a:p>
          <a:p>
            <a:pPr lvl="1" algn="just"/>
            <a:r>
              <a:rPr lang="vi-VN" sz="2800"/>
              <a:t>Giảm thiểu trùng lặp, đảm bảo tính nhất quán</a:t>
            </a:r>
            <a:endParaRPr lang="en-US" sz="2800"/>
          </a:p>
          <a:p>
            <a:pPr lvl="1" algn="just"/>
            <a:r>
              <a:rPr lang="vi-VN" sz="2800"/>
              <a:t>Cho phép nhiều người dùng truy cập đồng thời</a:t>
            </a:r>
            <a:endParaRPr lang="en-US" sz="2800"/>
          </a:p>
          <a:p>
            <a:pPr lvl="1" algn="just"/>
            <a:r>
              <a:rPr lang="vi-VN" sz="2800">
                <a:latin typeface="Corbel" panose="020B0503020204020204" pitchFamily="34" charset="0"/>
              </a:rPr>
              <a:t>Có thể phân quyền truy cập, chỉ cho phép người có thẩm quyền xem hoặc chỉnh sửa.</a:t>
            </a:r>
            <a:endParaRPr lang="en-US" sz="2800">
              <a:latin typeface="Corbel" panose="020B0503020204020204" pitchFamily="34" charset="0"/>
            </a:endParaRPr>
          </a:p>
          <a:p>
            <a:pPr lvl="1" algn="just"/>
            <a:r>
              <a:rPr lang="vi-VN" sz="2800"/>
              <a:t>Hỗ trợ truy vấn phức tạp, dễ dàng mở rộng và bảo mật tốt hơn</a:t>
            </a:r>
          </a:p>
        </p:txBody>
      </p:sp>
      <p:grpSp>
        <p:nvGrpSpPr>
          <p:cNvPr id="7" name="Group 6">
            <a:extLst>
              <a:ext uri="{FF2B5EF4-FFF2-40B4-BE49-F238E27FC236}">
                <a16:creationId xmlns:a16="http://schemas.microsoft.com/office/drawing/2014/main" id="{E341111E-A1C5-2C57-183F-41854A2F5433}"/>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8B7B96CD-13C8-D95B-8666-7AA744A96B8C}"/>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223DF963-CDE3-FAB9-45B5-0ACAF7AB8BA0}"/>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CSDL</a:t>
              </a:r>
            </a:p>
          </p:txBody>
        </p:sp>
      </p:grpSp>
      <p:sp>
        <p:nvSpPr>
          <p:cNvPr id="8" name="Oval 7">
            <a:extLst>
              <a:ext uri="{FF2B5EF4-FFF2-40B4-BE49-F238E27FC236}">
                <a16:creationId xmlns:a16="http://schemas.microsoft.com/office/drawing/2014/main" id="{EBCD5AB4-7902-5C13-94F0-A643A10A72A2}"/>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08245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3E915-3D88-CF7B-5115-3789D0CF1A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E135BD-93C7-FCF4-8D9D-F77D36054703}"/>
              </a:ext>
            </a:extLst>
          </p:cNvPr>
          <p:cNvSpPr>
            <a:spLocks noGrp="1"/>
          </p:cNvSpPr>
          <p:nvPr>
            <p:ph idx="1"/>
          </p:nvPr>
        </p:nvSpPr>
        <p:spPr>
          <a:xfrm>
            <a:off x="1484310" y="1817225"/>
            <a:ext cx="10018713" cy="4236334"/>
          </a:xfrm>
        </p:spPr>
        <p:txBody>
          <a:bodyPr>
            <a:noAutofit/>
          </a:bodyPr>
          <a:lstStyle/>
          <a:p>
            <a:r>
              <a:rPr lang="en-US" sz="3200" b="1">
                <a:latin typeface="Arial" panose="020B0604020202020204" pitchFamily="34" charset="0"/>
                <a:cs typeface="Arial" panose="020B0604020202020204" pitchFamily="34" charset="0"/>
              </a:rPr>
              <a:t>Ví dụ minh họa:</a:t>
            </a:r>
            <a:endParaRPr lang="en-US" sz="3200">
              <a:latin typeface="Arial" panose="020B0604020202020204" pitchFamily="34" charset="0"/>
              <a:cs typeface="Arial" panose="020B0604020202020204" pitchFamily="34" charset="0"/>
            </a:endParaRPr>
          </a:p>
          <a:p>
            <a:pPr marL="0" indent="0" algn="just">
              <a:buNone/>
            </a:pPr>
            <a:r>
              <a:rPr lang="en-US" sz="3200">
                <a:latin typeface="Arial" panose="020B0604020202020204" pitchFamily="34" charset="0"/>
                <a:cs typeface="Arial" panose="020B0604020202020204" pitchFamily="34" charset="0"/>
              </a:rPr>
              <a:t>Hệ thống quản lý sinh viên dùng </a:t>
            </a:r>
            <a:r>
              <a:rPr lang="en-US" sz="3200" b="1">
                <a:latin typeface="Arial" panose="020B0604020202020204" pitchFamily="34" charset="0"/>
                <a:cs typeface="Arial" panose="020B0604020202020204" pitchFamily="34" charset="0"/>
              </a:rPr>
              <a:t>CSDL quan hệ</a:t>
            </a:r>
            <a:r>
              <a:rPr lang="en-US" sz="3200">
                <a:latin typeface="Arial" panose="020B0604020202020204" pitchFamily="34" charset="0"/>
                <a:cs typeface="Arial" panose="020B0604020202020204" pitchFamily="34" charset="0"/>
              </a:rPr>
              <a:t>:</a:t>
            </a:r>
          </a:p>
          <a:p>
            <a:pPr lvl="1"/>
            <a:r>
              <a:rPr lang="en-US" sz="3200">
                <a:latin typeface="Arial" panose="020B0604020202020204" pitchFamily="34" charset="0"/>
                <a:cs typeface="Arial" panose="020B0604020202020204" pitchFamily="34" charset="0"/>
              </a:rPr>
              <a:t>Bảng SinhVien (MSSV, Họ tên, Ngày sinh)</a:t>
            </a:r>
          </a:p>
          <a:p>
            <a:pPr lvl="1"/>
            <a:r>
              <a:rPr lang="en-US" sz="3200">
                <a:latin typeface="Arial" panose="020B0604020202020204" pitchFamily="34" charset="0"/>
                <a:cs typeface="Arial" panose="020B0604020202020204" pitchFamily="34" charset="0"/>
              </a:rPr>
              <a:t>Bảng MonHoc (Mã môn, Tên môn, Số tín chỉ)</a:t>
            </a:r>
          </a:p>
          <a:p>
            <a:pPr lvl="1"/>
            <a:r>
              <a:rPr lang="en-US" sz="3200">
                <a:latin typeface="Arial" panose="020B0604020202020204" pitchFamily="34" charset="0"/>
                <a:cs typeface="Arial" panose="020B0604020202020204" pitchFamily="34" charset="0"/>
              </a:rPr>
              <a:t>Bảng DangKy (MSSV, Mã môn, Ngày đăng ký) </a:t>
            </a:r>
          </a:p>
          <a:p>
            <a:pPr marL="457200" lvl="1" indent="0">
              <a:buNone/>
            </a:pPr>
            <a:r>
              <a:rPr lang="en-US" sz="3200">
                <a:latin typeface="Arial" panose="020B0604020202020204" pitchFamily="34" charset="0"/>
                <a:cs typeface="Arial" panose="020B0604020202020204" pitchFamily="34" charset="0"/>
              </a:rPr>
              <a:t>→ Khi cần tra cứu sinh viên đã đăng ký môn nào, chỉ cần viết một câu </a:t>
            </a:r>
            <a:r>
              <a:rPr lang="en-US" sz="3200" b="1">
                <a:latin typeface="Arial" panose="020B0604020202020204" pitchFamily="34" charset="0"/>
                <a:cs typeface="Arial" panose="020B0604020202020204" pitchFamily="34" charset="0"/>
              </a:rPr>
              <a:t>truy vấn SQL</a:t>
            </a:r>
            <a:r>
              <a:rPr lang="en-US" sz="3200">
                <a:latin typeface="Arial" panose="020B0604020202020204" pitchFamily="34" charset="0"/>
                <a:cs typeface="Arial" panose="020B0604020202020204" pitchFamily="34" charset="0"/>
              </a:rPr>
              <a:t> thay vì mở nhiều file.</a:t>
            </a:r>
          </a:p>
        </p:txBody>
      </p:sp>
      <p:grpSp>
        <p:nvGrpSpPr>
          <p:cNvPr id="7" name="Group 6">
            <a:extLst>
              <a:ext uri="{FF2B5EF4-FFF2-40B4-BE49-F238E27FC236}">
                <a16:creationId xmlns:a16="http://schemas.microsoft.com/office/drawing/2014/main" id="{52AC30C0-5CC4-53EB-96D6-29AA76E0CEC7}"/>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82A0C133-3259-69CB-EBC3-C164EC059C13}"/>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20511FD6-304F-C916-4A92-EB8D9E8FFB5F}"/>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Quản lý dữ liệu bằng CSDL</a:t>
              </a:r>
            </a:p>
          </p:txBody>
        </p:sp>
      </p:grpSp>
      <p:sp>
        <p:nvSpPr>
          <p:cNvPr id="8" name="Oval 7">
            <a:extLst>
              <a:ext uri="{FF2B5EF4-FFF2-40B4-BE49-F238E27FC236}">
                <a16:creationId xmlns:a16="http://schemas.microsoft.com/office/drawing/2014/main" id="{BFF6D260-306C-7D38-6D07-236DFC381E38}"/>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82299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B5AF8-7AFC-D795-D1D3-7099544FE9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7124C7-650B-9F91-8F88-BF146AACACD8}"/>
              </a:ext>
            </a:extLst>
          </p:cNvPr>
          <p:cNvSpPr>
            <a:spLocks noGrp="1"/>
          </p:cNvSpPr>
          <p:nvPr>
            <p:ph idx="1"/>
          </p:nvPr>
        </p:nvSpPr>
        <p:spPr>
          <a:xfrm>
            <a:off x="1484310" y="1817225"/>
            <a:ext cx="10018713" cy="4236334"/>
          </a:xfrm>
        </p:spPr>
        <p:txBody>
          <a:bodyPr>
            <a:noAutofit/>
          </a:bodyPr>
          <a:lstStyle/>
          <a:p>
            <a:pPr algn="just"/>
            <a:r>
              <a:rPr lang="vi-VN" sz="3200" b="1"/>
              <a:t>Định nghĩa:</a:t>
            </a:r>
            <a:r>
              <a:rPr lang="vi-VN" sz="3200"/>
              <a:t> CSDL là tập hợp dữ liệu được tổ chức có cấu trúc, có liên quan với nhau và được lưu trữ trên các thiết bị lưu trữ thông tin.</a:t>
            </a:r>
            <a:endParaRPr lang="en-US" sz="3200"/>
          </a:p>
          <a:p>
            <a:pPr algn="just"/>
            <a:r>
              <a:rPr lang="vi-VN" sz="3200" b="1"/>
              <a:t>Mục đích:</a:t>
            </a:r>
            <a:r>
              <a:rPr lang="vi-VN" sz="3200"/>
              <a:t> CSDL được thiết kế nhằm </a:t>
            </a:r>
            <a:r>
              <a:rPr lang="vi-VN" sz="3200" b="1" i="1">
                <a:solidFill>
                  <a:srgbClr val="FF0000"/>
                </a:solidFill>
              </a:rPr>
              <a:t>thỏa mãn yêu cầu khai thác thông tin đồng thời</a:t>
            </a:r>
            <a:r>
              <a:rPr lang="vi-VN" sz="3200"/>
              <a:t> của nhiều người sử dụng hoặc nhiều chương trình ứng dụng với những mục đích khác nhau.</a:t>
            </a:r>
            <a:endParaRPr lang="en-US" sz="320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40BF8698-97CF-4755-3267-740354630642}"/>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C075796D-8CC2-0E09-D9A8-827A8E778C13}"/>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E61D0F78-A032-AA0E-DC81-BDB8763900DC}"/>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Cơ sở dữ liệu</a:t>
              </a:r>
            </a:p>
          </p:txBody>
        </p:sp>
      </p:grpSp>
      <p:sp>
        <p:nvSpPr>
          <p:cNvPr id="8" name="Oval 7">
            <a:extLst>
              <a:ext uri="{FF2B5EF4-FFF2-40B4-BE49-F238E27FC236}">
                <a16:creationId xmlns:a16="http://schemas.microsoft.com/office/drawing/2014/main" id="{EC6FD61E-6E91-BF95-5B18-10EE2431600C}"/>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251855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B39C7-79BF-2C54-A816-25C36882AF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24505B-D787-494B-8709-7F34D947BE88}"/>
              </a:ext>
            </a:extLst>
          </p:cNvPr>
          <p:cNvSpPr>
            <a:spLocks noGrp="1"/>
          </p:cNvSpPr>
          <p:nvPr>
            <p:ph idx="1"/>
          </p:nvPr>
        </p:nvSpPr>
        <p:spPr>
          <a:xfrm>
            <a:off x="1484310" y="1817225"/>
            <a:ext cx="10018713" cy="4236334"/>
          </a:xfrm>
        </p:spPr>
        <p:txBody>
          <a:bodyPr>
            <a:noAutofit/>
          </a:bodyPr>
          <a:lstStyle/>
          <a:p>
            <a:pPr algn="just"/>
            <a:r>
              <a:rPr lang="en-US" sz="3200" b="1"/>
              <a:t>Ví dụ: </a:t>
            </a:r>
          </a:p>
          <a:p>
            <a:pPr lvl="1" algn="just"/>
            <a:r>
              <a:rPr lang="en-US" sz="3200"/>
              <a:t>Cơ sở dữ liệu Quản lý sinh viên</a:t>
            </a:r>
          </a:p>
          <a:p>
            <a:pPr lvl="1" algn="just"/>
            <a:r>
              <a:rPr lang="en-US" sz="3200"/>
              <a:t>Cơ sở dữ liệu quản lý thư viện</a:t>
            </a:r>
          </a:p>
          <a:p>
            <a:pPr lvl="1" algn="just"/>
            <a:r>
              <a:rPr lang="en-US" sz="3200"/>
              <a:t>Cơ sở dữ liệu quản lý bán hang</a:t>
            </a:r>
          </a:p>
          <a:p>
            <a:pPr lvl="1" algn="just"/>
            <a:r>
              <a:rPr lang="en-US" sz="3200">
                <a:latin typeface="+mj-lt"/>
                <a:cs typeface="Arial" panose="020B0604020202020204" pitchFamily="34" charset="0"/>
              </a:rPr>
              <a:t>Danh bạ điện thoại</a:t>
            </a:r>
          </a:p>
          <a:p>
            <a:pPr lvl="1" algn="just"/>
            <a:r>
              <a:rPr lang="en-US" sz="3200">
                <a:latin typeface="Arial" panose="020B0604020202020204" pitchFamily="34" charset="0"/>
                <a:cs typeface="Arial" panose="020B0604020202020204" pitchFamily="34" charset="0"/>
              </a:rPr>
              <a:t>…</a:t>
            </a:r>
          </a:p>
        </p:txBody>
      </p:sp>
      <p:grpSp>
        <p:nvGrpSpPr>
          <p:cNvPr id="7" name="Group 6">
            <a:extLst>
              <a:ext uri="{FF2B5EF4-FFF2-40B4-BE49-F238E27FC236}">
                <a16:creationId xmlns:a16="http://schemas.microsoft.com/office/drawing/2014/main" id="{8B54F8BC-8194-0348-682D-CA7AFCE9D82E}"/>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9E4802EE-BA42-78D8-BDF3-993A11FF543F}"/>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1DAD4F39-AF3F-B2CC-6DFD-5F6E421CFC28}"/>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Cơ sở dữ liệu</a:t>
              </a:r>
            </a:p>
          </p:txBody>
        </p:sp>
      </p:grpSp>
      <p:sp>
        <p:nvSpPr>
          <p:cNvPr id="8" name="Oval 7">
            <a:extLst>
              <a:ext uri="{FF2B5EF4-FFF2-40B4-BE49-F238E27FC236}">
                <a16:creationId xmlns:a16="http://schemas.microsoft.com/office/drawing/2014/main" id="{0638171C-79AE-E39C-F11D-ABE66C0355B3}"/>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761239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FA9C-D9F9-B6E3-5FE7-DB6B556A42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D7CC2E-2251-5371-3350-DC2D8CA65E38}"/>
              </a:ext>
            </a:extLst>
          </p:cNvPr>
          <p:cNvSpPr>
            <a:spLocks noGrp="1"/>
          </p:cNvSpPr>
          <p:nvPr>
            <p:ph idx="1"/>
          </p:nvPr>
        </p:nvSpPr>
        <p:spPr>
          <a:xfrm>
            <a:off x="1484310" y="1360232"/>
            <a:ext cx="10588085" cy="4947971"/>
          </a:xfrm>
        </p:spPr>
        <p:txBody>
          <a:bodyPr>
            <a:noAutofit/>
          </a:bodyPr>
          <a:lstStyle/>
          <a:p>
            <a:pPr marL="404813" lvl="1" indent="-231775" algn="just"/>
            <a:r>
              <a:rPr lang="vi-VN" sz="2400" i="1"/>
              <a:t>Có cấu trúc:  </a:t>
            </a:r>
            <a:r>
              <a:rPr lang="vi-VN" sz="2400"/>
              <a:t>Dữ liệu được tổ chức thành bảng, cột, hàng hoặc mô hình cụ thể.</a:t>
            </a:r>
            <a:endParaRPr lang="en-US" sz="2400"/>
          </a:p>
          <a:p>
            <a:pPr marL="404813" lvl="1" indent="-231775" algn="just"/>
            <a:r>
              <a:rPr lang="vi-VN" sz="2400" i="1"/>
              <a:t>Có liên kết:  </a:t>
            </a:r>
            <a:r>
              <a:rPr lang="vi-VN" sz="2400"/>
              <a:t>Các dữ liệu liên quan với nhau</a:t>
            </a:r>
            <a:endParaRPr lang="en-US" sz="2400"/>
          </a:p>
          <a:p>
            <a:pPr marL="404813" lvl="1" indent="-231775" algn="just"/>
            <a:r>
              <a:rPr lang="vi-VN" sz="2400" i="1"/>
              <a:t>Tính nhất quán:  </a:t>
            </a:r>
            <a:r>
              <a:rPr lang="vi-VN" sz="2400"/>
              <a:t>Đảm bảo dữ liệu không mâu thuẫn, tránh trùng lặp.</a:t>
            </a:r>
            <a:endParaRPr lang="en-US" sz="2400"/>
          </a:p>
          <a:p>
            <a:pPr marL="404813" lvl="1" indent="-231775" algn="just"/>
            <a:r>
              <a:rPr lang="vi-VN" sz="2400" i="1"/>
              <a:t>Khả năng chia sẻ:  </a:t>
            </a:r>
            <a:r>
              <a:rPr lang="vi-VN" sz="2400"/>
              <a:t>Nhiều người dùng và nhiều ứng dụng có thể khai thác đồng thời.</a:t>
            </a:r>
            <a:endParaRPr lang="en-US" sz="2400"/>
          </a:p>
          <a:p>
            <a:pPr marL="404813" lvl="1" indent="-231775" algn="just"/>
            <a:r>
              <a:rPr lang="vi-VN" sz="2400" i="1"/>
              <a:t>Tính toàn vẹn:  </a:t>
            </a:r>
            <a:r>
              <a:rPr lang="vi-VN" sz="2400"/>
              <a:t>Dữ liệu phải chính xác, đầy đủ và tuân thủ các ràng buộc.</a:t>
            </a:r>
            <a:endParaRPr lang="en-US" sz="2400"/>
          </a:p>
          <a:p>
            <a:pPr marL="404813" lvl="1" indent="-231775" algn="just"/>
            <a:r>
              <a:rPr lang="vi-VN" sz="2400" i="1"/>
              <a:t>Tính bảo mật:  </a:t>
            </a:r>
            <a:r>
              <a:rPr lang="vi-VN" sz="2400"/>
              <a:t>Có cơ chế phân quyền, kiểm soát truy cập để bảo vệ dữ liệu.</a:t>
            </a:r>
            <a:endParaRPr lang="en-US" sz="2400"/>
          </a:p>
          <a:p>
            <a:pPr marL="404813" lvl="1" indent="-231775" algn="just"/>
            <a:r>
              <a:rPr lang="vi-VN" sz="2400" i="1"/>
              <a:t>Khả năng mở rộng:  </a:t>
            </a:r>
            <a:r>
              <a:rPr lang="vi-VN" sz="2400"/>
              <a:t>Dễ dàng bổ sung, cập nhật khi hệ thống phát triển.</a:t>
            </a:r>
            <a:endParaRPr lang="en-US" sz="2400"/>
          </a:p>
        </p:txBody>
      </p:sp>
      <p:grpSp>
        <p:nvGrpSpPr>
          <p:cNvPr id="7" name="Group 6">
            <a:extLst>
              <a:ext uri="{FF2B5EF4-FFF2-40B4-BE49-F238E27FC236}">
                <a16:creationId xmlns:a16="http://schemas.microsoft.com/office/drawing/2014/main" id="{4234D261-7D3E-4794-AC98-36654B6BD266}"/>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4C77E22E-0A1F-33D9-3CDC-4E80598C3B4D}"/>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2C508FB6-B8FA-A8BE-6D91-D424E62454BE}"/>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Tính chất của </a:t>
              </a:r>
              <a:r>
                <a:rPr lang="en-US" sz="4000" b="1" kern="1200"/>
                <a:t>Cơ sở dữ liệu</a:t>
              </a:r>
            </a:p>
          </p:txBody>
        </p:sp>
      </p:grpSp>
      <p:sp>
        <p:nvSpPr>
          <p:cNvPr id="8" name="Oval 7">
            <a:extLst>
              <a:ext uri="{FF2B5EF4-FFF2-40B4-BE49-F238E27FC236}">
                <a16:creationId xmlns:a16="http://schemas.microsoft.com/office/drawing/2014/main" id="{F7FECBB0-F171-8FFE-DCD5-55382D68ADFF}"/>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238933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AFB9E-9719-1637-4911-3813D37E93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B61EE-201C-3644-5B59-75F0FAD99036}"/>
              </a:ext>
            </a:extLst>
          </p:cNvPr>
          <p:cNvSpPr>
            <a:spLocks noGrp="1"/>
          </p:cNvSpPr>
          <p:nvPr>
            <p:ph idx="1"/>
          </p:nvPr>
        </p:nvSpPr>
        <p:spPr>
          <a:xfrm>
            <a:off x="2250742" y="2708475"/>
            <a:ext cx="9821653" cy="3599727"/>
          </a:xfrm>
        </p:spPr>
        <p:txBody>
          <a:bodyPr>
            <a:noAutofit/>
          </a:bodyPr>
          <a:lstStyle/>
          <a:p>
            <a:r>
              <a:rPr lang="vi-VN" b="1"/>
              <a:t>Người quản trị</a:t>
            </a:r>
            <a:r>
              <a:rPr lang="en-US" b="1"/>
              <a:t>:</a:t>
            </a:r>
            <a:endParaRPr lang="vi-VN"/>
          </a:p>
          <a:p>
            <a:pPr lvl="1"/>
            <a:r>
              <a:rPr lang="vi-VN"/>
              <a:t>Quản lý dữ liệu, phân quyền truy cập</a:t>
            </a:r>
          </a:p>
          <a:p>
            <a:pPr lvl="1"/>
            <a:r>
              <a:rPr lang="vi-VN"/>
              <a:t>Đảm bảo dữ liệu chính xác và an toàn</a:t>
            </a:r>
            <a:endParaRPr lang="en-US"/>
          </a:p>
          <a:p>
            <a:r>
              <a:rPr lang="vi-VN" b="1"/>
              <a:t>Người dùng trực tiếp</a:t>
            </a:r>
            <a:r>
              <a:rPr lang="en-US" b="1"/>
              <a:t> (End-user):</a:t>
            </a:r>
            <a:endParaRPr lang="vi-VN" b="1"/>
          </a:p>
          <a:p>
            <a:pPr lvl="1"/>
            <a:r>
              <a:rPr lang="vi-VN"/>
              <a:t>Tra cứu thông tin</a:t>
            </a:r>
            <a:endParaRPr lang="en-US"/>
          </a:p>
          <a:p>
            <a:pPr lvl="1"/>
            <a:r>
              <a:rPr lang="vi-VN"/>
              <a:t>Nhập dữ liệu</a:t>
            </a:r>
          </a:p>
          <a:p>
            <a:r>
              <a:rPr lang="vi-VN" b="1"/>
              <a:t>Chương trình ứng dụng (phần mềm):</a:t>
            </a:r>
            <a:endParaRPr lang="vi-VN"/>
          </a:p>
          <a:p>
            <a:pPr lvl="1"/>
            <a:r>
              <a:rPr lang="vi-VN"/>
              <a:t>Phần mềm quản lý điểm, thư viện, cửa hàng…</a:t>
            </a:r>
          </a:p>
          <a:p>
            <a:pPr lvl="1"/>
            <a:r>
              <a:rPr lang="vi-VN"/>
              <a:t>Tự động lấy dữ liệu từ CSDL để phục vụ chức năng</a:t>
            </a:r>
            <a:endParaRPr lang="en-US"/>
          </a:p>
          <a:p>
            <a:r>
              <a:rPr lang="en-US" b="1">
                <a:latin typeface="Arial" panose="020B0604020202020204" pitchFamily="34" charset="0"/>
                <a:cs typeface="Arial" panose="020B0604020202020204" pitchFamily="34" charset="0"/>
              </a:rPr>
              <a:t>Nhà phát triển (Developer):</a:t>
            </a:r>
          </a:p>
          <a:p>
            <a:pPr lvl="1"/>
            <a:r>
              <a:rPr lang="en-US"/>
              <a:t>Thiết kế, xây dựng ứng dụng kết nối với CSDL</a:t>
            </a:r>
          </a:p>
          <a:p>
            <a:endParaRPr lang="vi-VN" sz="2000"/>
          </a:p>
          <a:p>
            <a:endParaRPr lang="vi-VN" sz="2000"/>
          </a:p>
        </p:txBody>
      </p:sp>
      <p:grpSp>
        <p:nvGrpSpPr>
          <p:cNvPr id="7" name="Group 6">
            <a:extLst>
              <a:ext uri="{FF2B5EF4-FFF2-40B4-BE49-F238E27FC236}">
                <a16:creationId xmlns:a16="http://schemas.microsoft.com/office/drawing/2014/main" id="{714B6537-07E2-57F4-2628-0F51B395D878}"/>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54E27979-AFF4-584F-A0DA-1EEFE72AE6B3}"/>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123790E2-0112-B6AA-45D0-05EE3D18E98B}"/>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Những người dùng Cơ sở dữ liệu</a:t>
              </a:r>
            </a:p>
          </p:txBody>
        </p:sp>
      </p:grpSp>
      <p:sp>
        <p:nvSpPr>
          <p:cNvPr id="8" name="Oval 7">
            <a:extLst>
              <a:ext uri="{FF2B5EF4-FFF2-40B4-BE49-F238E27FC236}">
                <a16:creationId xmlns:a16="http://schemas.microsoft.com/office/drawing/2014/main" id="{BCF5D96E-93D3-90E7-B7A2-821BBA95EDBD}"/>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487228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934D1-25B2-A6CD-55B0-C64A78E62E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545FED-1973-DDF9-1A29-B771819400D2}"/>
              </a:ext>
            </a:extLst>
          </p:cNvPr>
          <p:cNvSpPr>
            <a:spLocks noGrp="1"/>
          </p:cNvSpPr>
          <p:nvPr>
            <p:ph idx="1"/>
          </p:nvPr>
        </p:nvSpPr>
        <p:spPr>
          <a:xfrm>
            <a:off x="1484310" y="1485901"/>
            <a:ext cx="10018713" cy="3803730"/>
          </a:xfrm>
        </p:spPr>
        <p:txBody>
          <a:bodyPr>
            <a:noAutofit/>
          </a:bodyPr>
          <a:lstStyle/>
          <a:p>
            <a:pPr algn="just"/>
            <a:r>
              <a:rPr lang="vi-VN" sz="3200" b="1">
                <a:latin typeface="Corbel" panose="020B0503020204020204" pitchFamily="34" charset="0"/>
              </a:rPr>
              <a:t>Khái niệm:</a:t>
            </a:r>
            <a:r>
              <a:rPr lang="vi-VN" sz="3200">
                <a:latin typeface="Corbel" panose="020B0503020204020204" pitchFamily="34" charset="0"/>
              </a:rPr>
              <a:t> Hệ quản trị cơ sở dữ liệu (Database Management System – DBMS) là </a:t>
            </a:r>
            <a:r>
              <a:rPr lang="vi-VN" sz="3200" b="1" i="1">
                <a:solidFill>
                  <a:srgbClr val="FF0000"/>
                </a:solidFill>
                <a:latin typeface="Corbel" panose="020B0503020204020204" pitchFamily="34" charset="0"/>
              </a:rPr>
              <a:t>phần mềm chuyên dụng</a:t>
            </a:r>
            <a:r>
              <a:rPr lang="vi-VN" sz="3200">
                <a:latin typeface="Corbel" panose="020B0503020204020204" pitchFamily="34" charset="0"/>
              </a:rPr>
              <a:t> giúp:</a:t>
            </a:r>
          </a:p>
          <a:p>
            <a:pPr lvl="1" algn="just"/>
            <a:r>
              <a:rPr lang="vi-VN" sz="2800">
                <a:latin typeface="Corbel" panose="020B0503020204020204" pitchFamily="34" charset="0"/>
              </a:rPr>
              <a:t>Tạo lập các cơ sở dữ liệu</a:t>
            </a:r>
          </a:p>
          <a:p>
            <a:pPr lvl="1" algn="just"/>
            <a:r>
              <a:rPr lang="vi-VN" sz="2800">
                <a:latin typeface="Corbel" panose="020B0503020204020204" pitchFamily="34" charset="0"/>
              </a:rPr>
              <a:t>Cung cấp cơ chế lưu trữ, truy cập và quản lý dữ liệu theo mô hình CSDL</a:t>
            </a:r>
            <a:endParaRPr lang="en-US" sz="2800">
              <a:latin typeface="Corbel" panose="020B0503020204020204" pitchFamily="34" charset="0"/>
            </a:endParaRPr>
          </a:p>
        </p:txBody>
      </p:sp>
      <p:grpSp>
        <p:nvGrpSpPr>
          <p:cNvPr id="7" name="Group 6">
            <a:extLst>
              <a:ext uri="{FF2B5EF4-FFF2-40B4-BE49-F238E27FC236}">
                <a16:creationId xmlns:a16="http://schemas.microsoft.com/office/drawing/2014/main" id="{546DB7AB-90AB-31FF-3709-E5B08E2314C2}"/>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0C04D333-389D-954C-D02D-43FA4D7AC3E4}"/>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403C0448-2035-CB97-704B-BF7923112ED4}"/>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Hệ quản trị Cơ sở dữ liệu</a:t>
              </a:r>
            </a:p>
          </p:txBody>
        </p:sp>
      </p:grpSp>
      <p:sp>
        <p:nvSpPr>
          <p:cNvPr id="8" name="Oval 7">
            <a:extLst>
              <a:ext uri="{FF2B5EF4-FFF2-40B4-BE49-F238E27FC236}">
                <a16:creationId xmlns:a16="http://schemas.microsoft.com/office/drawing/2014/main" id="{4B5774AF-55DD-89B2-5161-73CDA2D2456C}"/>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25041433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55985-AB8F-1FEF-BEE7-5F3BECD1646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163C87-6BD2-25EB-8104-DAC16248E77E}"/>
              </a:ext>
            </a:extLst>
          </p:cNvPr>
          <p:cNvSpPr>
            <a:spLocks noGrp="1"/>
          </p:cNvSpPr>
          <p:nvPr>
            <p:ph idx="1"/>
          </p:nvPr>
        </p:nvSpPr>
        <p:spPr>
          <a:xfrm>
            <a:off x="1484310" y="1817225"/>
            <a:ext cx="10018713" cy="3335800"/>
          </a:xfrm>
        </p:spPr>
        <p:txBody>
          <a:bodyPr>
            <a:noAutofit/>
          </a:bodyPr>
          <a:lstStyle/>
          <a:p>
            <a:r>
              <a:rPr lang="vi-VN" sz="3200" b="1">
                <a:latin typeface="Corbel" panose="020B0503020204020204" pitchFamily="34" charset="0"/>
              </a:rPr>
              <a:t>Vai trò:</a:t>
            </a:r>
            <a:endParaRPr lang="vi-VN" sz="3200">
              <a:latin typeface="Corbel" panose="020B0503020204020204" pitchFamily="34" charset="0"/>
            </a:endParaRPr>
          </a:p>
          <a:p>
            <a:pPr lvl="1"/>
            <a:r>
              <a:rPr lang="vi-VN" sz="2800">
                <a:latin typeface="Corbel" panose="020B0503020204020204" pitchFamily="34" charset="0"/>
              </a:rPr>
              <a:t>Là </a:t>
            </a:r>
            <a:r>
              <a:rPr lang="vi-VN" sz="2800" b="1">
                <a:solidFill>
                  <a:srgbClr val="FF0000"/>
                </a:solidFill>
                <a:latin typeface="Corbel" panose="020B0503020204020204" pitchFamily="34" charset="0"/>
              </a:rPr>
              <a:t>cầu nối </a:t>
            </a:r>
            <a:r>
              <a:rPr lang="vi-VN" sz="2800">
                <a:latin typeface="Corbel" panose="020B0503020204020204" pitchFamily="34" charset="0"/>
              </a:rPr>
              <a:t>giữa </a:t>
            </a:r>
            <a:r>
              <a:rPr lang="vi-VN" sz="2800" b="1" i="1">
                <a:solidFill>
                  <a:srgbClr val="FF0000"/>
                </a:solidFill>
                <a:latin typeface="Corbel" panose="020B0503020204020204" pitchFamily="34" charset="0"/>
              </a:rPr>
              <a:t>người dùng/ứng dụng</a:t>
            </a:r>
            <a:r>
              <a:rPr lang="vi-VN" sz="2800">
                <a:solidFill>
                  <a:srgbClr val="FF0000"/>
                </a:solidFill>
                <a:latin typeface="Corbel" panose="020B0503020204020204" pitchFamily="34" charset="0"/>
              </a:rPr>
              <a:t> </a:t>
            </a:r>
            <a:r>
              <a:rPr lang="vi-VN" sz="2800">
                <a:latin typeface="Corbel" panose="020B0503020204020204" pitchFamily="34" charset="0"/>
              </a:rPr>
              <a:t>và </a:t>
            </a:r>
            <a:r>
              <a:rPr lang="vi-VN" sz="2800" b="1" i="1">
                <a:solidFill>
                  <a:srgbClr val="FF0000"/>
                </a:solidFill>
                <a:latin typeface="Corbel" panose="020B0503020204020204" pitchFamily="34" charset="0"/>
              </a:rPr>
              <a:t>dữ liệu</a:t>
            </a:r>
            <a:r>
              <a:rPr lang="vi-VN" sz="2800">
                <a:latin typeface="Corbel" panose="020B0503020204020204" pitchFamily="34" charset="0"/>
              </a:rPr>
              <a:t>,</a:t>
            </a:r>
            <a:r>
              <a:rPr lang="en-US" sz="2800">
                <a:latin typeface="Corbel" panose="020B0503020204020204" pitchFamily="34" charset="0"/>
              </a:rPr>
              <a:t> </a:t>
            </a:r>
            <a:r>
              <a:rPr lang="en-US" sz="2800">
                <a:latin typeface="Corbel" panose="020B0503020204020204" pitchFamily="34" charset="0"/>
                <a:cs typeface="Arial" panose="020B0604020202020204" pitchFamily="34" charset="0"/>
              </a:rPr>
              <a:t>g</a:t>
            </a:r>
            <a:r>
              <a:rPr lang="vi-VN" sz="2800">
                <a:latin typeface="Corbel" panose="020B0503020204020204" pitchFamily="34" charset="0"/>
              </a:rPr>
              <a:t>iúp người dùng và ứng dụng làm việc với dữ liệu dễ dàng</a:t>
            </a:r>
          </a:p>
          <a:p>
            <a:pPr lvl="1"/>
            <a:r>
              <a:rPr lang="vi-VN" sz="2800">
                <a:latin typeface="Corbel" panose="020B0503020204020204" pitchFamily="34" charset="0"/>
              </a:rPr>
              <a:t>Đảm bảo tính nhất quán, bảo mật và toàn vẹn dữ liệu</a:t>
            </a:r>
          </a:p>
          <a:p>
            <a:pPr lvl="1"/>
            <a:r>
              <a:rPr lang="vi-VN" sz="2800">
                <a:latin typeface="Corbel" panose="020B0503020204020204" pitchFamily="34" charset="0"/>
              </a:rPr>
              <a:t>Cho phép nhiều người dùng khai thác dữ liệu đồng thời</a:t>
            </a:r>
            <a:endParaRPr lang="en-US" sz="2800">
              <a:latin typeface="Corbel" panose="020B0503020204020204" pitchFamily="34" charset="0"/>
            </a:endParaRPr>
          </a:p>
          <a:p>
            <a:pPr marL="457200" lvl="1" indent="0">
              <a:buNone/>
            </a:pPr>
            <a:endParaRPr lang="vi-VN" sz="2800">
              <a:latin typeface="Corbel" panose="020B0503020204020204" pitchFamily="34" charset="0"/>
            </a:endParaRPr>
          </a:p>
        </p:txBody>
      </p:sp>
      <p:grpSp>
        <p:nvGrpSpPr>
          <p:cNvPr id="7" name="Group 6">
            <a:extLst>
              <a:ext uri="{FF2B5EF4-FFF2-40B4-BE49-F238E27FC236}">
                <a16:creationId xmlns:a16="http://schemas.microsoft.com/office/drawing/2014/main" id="{83613F1F-8528-803C-5B53-8D1D39E94DEA}"/>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450D307E-9D9E-A8B6-DED5-5BFDD4A7B6F9}"/>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2674674C-B93F-7A98-B10C-F88692C0F9E7}"/>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Hệ quản trị Cơ sở dữ liệu</a:t>
              </a:r>
            </a:p>
          </p:txBody>
        </p:sp>
      </p:grpSp>
      <p:sp>
        <p:nvSpPr>
          <p:cNvPr id="8" name="Oval 7">
            <a:extLst>
              <a:ext uri="{FF2B5EF4-FFF2-40B4-BE49-F238E27FC236}">
                <a16:creationId xmlns:a16="http://schemas.microsoft.com/office/drawing/2014/main" id="{EAB953ED-9F5C-0B4C-4CA5-E4400261677E}"/>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60299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B31C-0237-F246-AFD5-F4DFFF158CAF}"/>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1FBFB80-4BBC-6035-7EC0-990387F41C9A}"/>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BA32301F-0E16-9F0F-CFA8-51FD8134E4B1}"/>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1B53B1FB-1684-48F1-0567-30537EBD6AAC}"/>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kern="1200"/>
                <a:t>Hệ quản trị Cơ sở dữ liệu</a:t>
              </a:r>
            </a:p>
          </p:txBody>
        </p:sp>
      </p:grpSp>
      <p:sp>
        <p:nvSpPr>
          <p:cNvPr id="8" name="Oval 7">
            <a:extLst>
              <a:ext uri="{FF2B5EF4-FFF2-40B4-BE49-F238E27FC236}">
                <a16:creationId xmlns:a16="http://schemas.microsoft.com/office/drawing/2014/main" id="{A14FA25F-23C8-4325-57F9-369D1919951F}"/>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aphicFrame>
        <p:nvGraphicFramePr>
          <p:cNvPr id="5" name="Table 4">
            <a:extLst>
              <a:ext uri="{FF2B5EF4-FFF2-40B4-BE49-F238E27FC236}">
                <a16:creationId xmlns:a16="http://schemas.microsoft.com/office/drawing/2014/main" id="{197D3BCC-5D74-2076-0A6B-020D25806544}"/>
              </a:ext>
            </a:extLst>
          </p:cNvPr>
          <p:cNvGraphicFramePr>
            <a:graphicFrameLocks noGrp="1"/>
          </p:cNvGraphicFramePr>
          <p:nvPr>
            <p:extLst>
              <p:ext uri="{D42A27DB-BD31-4B8C-83A1-F6EECF244321}">
                <p14:modId xmlns:p14="http://schemas.microsoft.com/office/powerpoint/2010/main" val="15542511"/>
              </p:ext>
            </p:extLst>
          </p:nvPr>
        </p:nvGraphicFramePr>
        <p:xfrm>
          <a:off x="1589676" y="1781892"/>
          <a:ext cx="9913347" cy="4443048"/>
        </p:xfrm>
        <a:graphic>
          <a:graphicData uri="http://schemas.openxmlformats.org/drawingml/2006/table">
            <a:tbl>
              <a:tblPr>
                <a:tableStyleId>{3C2FFA5D-87B4-456A-9821-1D502468CF0F}</a:tableStyleId>
              </a:tblPr>
              <a:tblGrid>
                <a:gridCol w="3304449">
                  <a:extLst>
                    <a:ext uri="{9D8B030D-6E8A-4147-A177-3AD203B41FA5}">
                      <a16:colId xmlns:a16="http://schemas.microsoft.com/office/drawing/2014/main" val="2383470580"/>
                    </a:ext>
                  </a:extLst>
                </a:gridCol>
                <a:gridCol w="3304449">
                  <a:extLst>
                    <a:ext uri="{9D8B030D-6E8A-4147-A177-3AD203B41FA5}">
                      <a16:colId xmlns:a16="http://schemas.microsoft.com/office/drawing/2014/main" val="597008447"/>
                    </a:ext>
                  </a:extLst>
                </a:gridCol>
                <a:gridCol w="3304449">
                  <a:extLst>
                    <a:ext uri="{9D8B030D-6E8A-4147-A177-3AD203B41FA5}">
                      <a16:colId xmlns:a16="http://schemas.microsoft.com/office/drawing/2014/main" val="4157853382"/>
                    </a:ext>
                  </a:extLst>
                </a:gridCol>
              </a:tblGrid>
              <a:tr h="320431">
                <a:tc>
                  <a:txBody>
                    <a:bodyPr/>
                    <a:lstStyle/>
                    <a:p>
                      <a:pPr>
                        <a:buNone/>
                      </a:pPr>
                      <a:r>
                        <a:rPr lang="en-US" sz="2000" b="1">
                          <a:latin typeface="Arial" panose="020B0604020202020204" pitchFamily="34" charset="0"/>
                          <a:cs typeface="Arial" panose="020B0604020202020204" pitchFamily="34" charset="0"/>
                        </a:rPr>
                        <a:t>Nhóm</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b="1">
                          <a:latin typeface="Arial" panose="020B0604020202020204" pitchFamily="34" charset="0"/>
                          <a:cs typeface="Arial" panose="020B0604020202020204" pitchFamily="34" charset="0"/>
                        </a:rPr>
                        <a:t>Ví dụ phần mềm</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b="1">
                          <a:latin typeface="Arial" panose="020B0604020202020204" pitchFamily="34" charset="0"/>
                          <a:cs typeface="Arial" panose="020B0604020202020204" pitchFamily="34" charset="0"/>
                        </a:rPr>
                        <a:t>Đặc điểm nổi bật</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8336915"/>
                  </a:ext>
                </a:extLst>
              </a:tr>
              <a:tr h="560754">
                <a:tc>
                  <a:txBody>
                    <a:bodyPr/>
                    <a:lstStyle/>
                    <a:p>
                      <a:pPr>
                        <a:buNone/>
                      </a:pPr>
                      <a:r>
                        <a:rPr lang="en-US" sz="2000" b="1">
                          <a:latin typeface="Arial" panose="020B0604020202020204" pitchFamily="34" charset="0"/>
                          <a:cs typeface="Arial" panose="020B0604020202020204" pitchFamily="34" charset="0"/>
                        </a:rPr>
                        <a:t>Truyền thống</a:t>
                      </a:r>
                      <a:endParaRPr lang="en-US" sz="2000">
                        <a:latin typeface="Arial" panose="020B0604020202020204" pitchFamily="34" charset="0"/>
                        <a:cs typeface="Arial" panose="020B0604020202020204" pitchFamily="34" charset="0"/>
                      </a:endParaRP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Microsoft Access, SQL Server, Oracle</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Quản lý dữ liệu quan hệ, mạnh về doanh nghiệp</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253850"/>
                  </a:ext>
                </a:extLst>
              </a:tr>
              <a:tr h="560754">
                <a:tc>
                  <a:txBody>
                    <a:bodyPr/>
                    <a:lstStyle/>
                    <a:p>
                      <a:pPr>
                        <a:buNone/>
                      </a:pPr>
                      <a:r>
                        <a:rPr lang="en-US" sz="2000" b="1">
                          <a:latin typeface="Arial" panose="020B0604020202020204" pitchFamily="34" charset="0"/>
                          <a:cs typeface="Arial" panose="020B0604020202020204" pitchFamily="34" charset="0"/>
                        </a:rPr>
                        <a:t>Mã nguồn mở</a:t>
                      </a:r>
                      <a:endParaRPr lang="en-US" sz="2000">
                        <a:latin typeface="Arial" panose="020B0604020202020204" pitchFamily="34" charset="0"/>
                        <a:cs typeface="Arial" panose="020B0604020202020204" pitchFamily="34" charset="0"/>
                      </a:endParaRP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MySQL, PostgreSQL</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Miễn phí, phổ biến, cộng đồng lớn</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7990800"/>
                  </a:ext>
                </a:extLst>
              </a:tr>
              <a:tr h="560754">
                <a:tc>
                  <a:txBody>
                    <a:bodyPr/>
                    <a:lstStyle/>
                    <a:p>
                      <a:pPr>
                        <a:buNone/>
                      </a:pPr>
                      <a:r>
                        <a:rPr lang="en-US" sz="2000" b="1">
                          <a:latin typeface="Arial" panose="020B0604020202020204" pitchFamily="34" charset="0"/>
                          <a:cs typeface="Arial" panose="020B0604020202020204" pitchFamily="34" charset="0"/>
                        </a:rPr>
                        <a:t>NoSQL</a:t>
                      </a:r>
                      <a:endParaRPr lang="en-US" sz="2000">
                        <a:latin typeface="Arial" panose="020B0604020202020204" pitchFamily="34" charset="0"/>
                        <a:cs typeface="Arial" panose="020B0604020202020204" pitchFamily="34" charset="0"/>
                      </a:endParaRP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MongoDB, Cassandra</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vi-VN" sz="2000">
                          <a:latin typeface="Arial" panose="020B0604020202020204" pitchFamily="34" charset="0"/>
                          <a:cs typeface="Arial" panose="020B0604020202020204" pitchFamily="34" charset="0"/>
                        </a:rPr>
                        <a:t>Lưu trữ dữ liệu phi quan hệ, linh hoạt, mở rộng tốt</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0907264"/>
                  </a:ext>
                </a:extLst>
              </a:tr>
              <a:tr h="560754">
                <a:tc>
                  <a:txBody>
                    <a:bodyPr/>
                    <a:lstStyle/>
                    <a:p>
                      <a:pPr>
                        <a:buNone/>
                      </a:pPr>
                      <a:r>
                        <a:rPr lang="en-US" sz="2000" b="1">
                          <a:latin typeface="Arial" panose="020B0604020202020204" pitchFamily="34" charset="0"/>
                          <a:cs typeface="Arial" panose="020B0604020202020204" pitchFamily="34" charset="0"/>
                        </a:rPr>
                        <a:t>Đám mây</a:t>
                      </a:r>
                      <a:endParaRPr lang="en-US" sz="2000">
                        <a:latin typeface="Arial" panose="020B0604020202020204" pitchFamily="34" charset="0"/>
                        <a:cs typeface="Arial" panose="020B0604020202020204" pitchFamily="34" charset="0"/>
                      </a:endParaRP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Amazon RDS, Google Cloud Spanner, Azure SQL Database</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Quản lý dữ liệu trực tuyến, dễ mở rộng, bảo mật cao</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3483514"/>
                  </a:ext>
                </a:extLst>
              </a:tr>
              <a:tr h="560754">
                <a:tc>
                  <a:txBody>
                    <a:bodyPr/>
                    <a:lstStyle/>
                    <a:p>
                      <a:pPr>
                        <a:buNone/>
                      </a:pPr>
                      <a:r>
                        <a:rPr lang="it-IT" sz="2000" b="1">
                          <a:latin typeface="Arial" panose="020B0604020202020204" pitchFamily="34" charset="0"/>
                          <a:cs typeface="Arial" panose="020B0604020202020204" pitchFamily="34" charset="0"/>
                        </a:rPr>
                        <a:t>Realtime/Ứng dụng di động</a:t>
                      </a:r>
                      <a:endParaRPr lang="it-IT" sz="2000">
                        <a:latin typeface="Arial" panose="020B0604020202020204" pitchFamily="34" charset="0"/>
                        <a:cs typeface="Arial" panose="020B0604020202020204" pitchFamily="34" charset="0"/>
                      </a:endParaRP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Firebase Realtime Database, Firestore</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sz="2000">
                          <a:latin typeface="Arial" panose="020B0604020202020204" pitchFamily="34" charset="0"/>
                          <a:cs typeface="Arial" panose="020B0604020202020204" pitchFamily="34" charset="0"/>
                        </a:rPr>
                        <a:t>Hỗ trợ đồng bộ dữ liệu tức thì, phù hợp ứng dụng web/mobile</a:t>
                      </a:r>
                    </a:p>
                  </a:txBody>
                  <a:tcPr marL="80108" marR="80108" marT="40054" marB="400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0626506"/>
                  </a:ext>
                </a:extLst>
              </a:tr>
            </a:tbl>
          </a:graphicData>
        </a:graphic>
      </p:graphicFrame>
    </p:spTree>
    <p:extLst>
      <p:ext uri="{BB962C8B-B14F-4D97-AF65-F5344CB8AC3E}">
        <p14:creationId xmlns:p14="http://schemas.microsoft.com/office/powerpoint/2010/main" val="1107085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8BC4-8EC7-4320-C910-7E0FE1BE52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3BFE69-B79F-F01D-6B46-B63677A8E64B}"/>
              </a:ext>
            </a:extLst>
          </p:cNvPr>
          <p:cNvSpPr>
            <a:spLocks noGrp="1"/>
          </p:cNvSpPr>
          <p:nvPr>
            <p:ph idx="1"/>
          </p:nvPr>
        </p:nvSpPr>
        <p:spPr>
          <a:xfrm>
            <a:off x="1484310" y="1817225"/>
            <a:ext cx="10018713" cy="3802525"/>
          </a:xfrm>
        </p:spPr>
        <p:txBody>
          <a:bodyPr>
            <a:noAutofit/>
          </a:bodyPr>
          <a:lstStyle/>
          <a:p>
            <a:pPr algn="just"/>
            <a:r>
              <a:rPr lang="vi-VN" sz="2800" b="1">
                <a:latin typeface="Corbel" panose="020B0503020204020204" pitchFamily="34" charset="0"/>
              </a:rPr>
              <a:t>Mức vật lý (Physical level):</a:t>
            </a:r>
            <a:endParaRPr lang="vi-VN" sz="2800">
              <a:latin typeface="Corbel" panose="020B0503020204020204" pitchFamily="34" charset="0"/>
            </a:endParaRPr>
          </a:p>
          <a:p>
            <a:pPr lvl="1" algn="just"/>
            <a:r>
              <a:rPr lang="en-US" sz="2800">
                <a:latin typeface="Corbel" panose="020B0503020204020204" pitchFamily="34" charset="0"/>
              </a:rPr>
              <a:t>Mô tả dữ liệu thực sự lưu trữ như thế nào trong CSDL.</a:t>
            </a:r>
          </a:p>
          <a:p>
            <a:pPr lvl="1" algn="just"/>
            <a:r>
              <a:rPr lang="en-US" sz="2800">
                <a:latin typeface="Corbel" panose="020B0503020204020204" pitchFamily="34" charset="0"/>
              </a:rPr>
              <a:t>Mức này phản ánh các cấu trúc dữ liệu, các tổ chức tệp được dùng cho việc lưu trữ dữ liệu trên các thiết bị nhớ thứ cập. </a:t>
            </a:r>
          </a:p>
          <a:p>
            <a:pPr lvl="1" algn="just"/>
            <a:r>
              <a:rPr lang="vi-VN" sz="2800">
                <a:latin typeface="Corbel" panose="020B0503020204020204" pitchFamily="34" charset="0"/>
              </a:rPr>
              <a:t>Ví dụ: dữ liệu được ghi thành các khối, file, chỉ mục.</a:t>
            </a:r>
            <a:endParaRPr lang="en-US" sz="2800">
              <a:latin typeface="Corbel" panose="020B0503020204020204" pitchFamily="34" charset="0"/>
            </a:endParaRPr>
          </a:p>
          <a:p>
            <a:pPr algn="just"/>
            <a:endParaRPr lang="vi-VN" sz="3200"/>
          </a:p>
        </p:txBody>
      </p:sp>
      <p:grpSp>
        <p:nvGrpSpPr>
          <p:cNvPr id="7" name="Group 6">
            <a:extLst>
              <a:ext uri="{FF2B5EF4-FFF2-40B4-BE49-F238E27FC236}">
                <a16:creationId xmlns:a16="http://schemas.microsoft.com/office/drawing/2014/main" id="{B7689C15-DAD1-2088-5832-D924198E8EEC}"/>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FD4B8B0E-AE46-E3C0-5454-04D62C2C9346}"/>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89E72C2C-EE1A-3674-8293-97194E8A0B42}"/>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mức biểu diễn của </a:t>
              </a:r>
              <a:r>
                <a:rPr lang="en-US" sz="4000" b="1" kern="1200"/>
                <a:t>Cơ sở dữ liệu</a:t>
              </a:r>
            </a:p>
          </p:txBody>
        </p:sp>
      </p:grpSp>
      <p:sp>
        <p:nvSpPr>
          <p:cNvPr id="8" name="Oval 7">
            <a:extLst>
              <a:ext uri="{FF2B5EF4-FFF2-40B4-BE49-F238E27FC236}">
                <a16:creationId xmlns:a16="http://schemas.microsoft.com/office/drawing/2014/main" id="{FFC08E3B-C559-8E08-A147-D9B563E25029}"/>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817787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67656-BE50-5F00-A7CC-2D06BC9560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FE9CB2-A3ED-CEEC-7DD9-E3FC6354890A}"/>
              </a:ext>
            </a:extLst>
          </p:cNvPr>
          <p:cNvSpPr>
            <a:spLocks noGrp="1"/>
          </p:cNvSpPr>
          <p:nvPr>
            <p:ph idx="1"/>
          </p:nvPr>
        </p:nvSpPr>
        <p:spPr>
          <a:xfrm>
            <a:off x="1484310" y="2219325"/>
            <a:ext cx="10018713" cy="3834234"/>
          </a:xfrm>
        </p:spPr>
        <p:txBody>
          <a:bodyPr>
            <a:noAutofit/>
          </a:bodyPr>
          <a:lstStyle/>
          <a:p>
            <a:r>
              <a:rPr lang="en-US" sz="2800" b="1">
                <a:latin typeface="+mj-lt"/>
                <a:cs typeface="Arial" panose="020B0604020202020204" pitchFamily="34" charset="0"/>
              </a:rPr>
              <a:t>Mức logic (Logical level):</a:t>
            </a:r>
            <a:endParaRPr lang="en-US" sz="2800">
              <a:latin typeface="+mj-lt"/>
              <a:cs typeface="Arial" panose="020B0604020202020204" pitchFamily="34" charset="0"/>
            </a:endParaRPr>
          </a:p>
          <a:p>
            <a:pPr lvl="1"/>
            <a:r>
              <a:rPr lang="en-US" sz="2800"/>
              <a:t>Mức này mô tả những dữ liệu nào được lưu trữ trong CSDL và có những mối quan hệ nào giữa chúng. </a:t>
            </a:r>
            <a:endParaRPr lang="en-US" sz="2800">
              <a:latin typeface="+mj-lt"/>
              <a:cs typeface="Arial" panose="020B0604020202020204" pitchFamily="34" charset="0"/>
            </a:endParaRPr>
          </a:p>
          <a:p>
            <a:pPr lvl="1"/>
            <a:r>
              <a:rPr lang="en-US" sz="2800">
                <a:latin typeface="+mj-lt"/>
              </a:rPr>
              <a:t>Mức này chỉ quan tâm đến cái gì được lưu trữ trong CSDL chứ không quan tâm đến cách thức lưu trữ. </a:t>
            </a:r>
            <a:endParaRPr lang="en-US" sz="2800">
              <a:latin typeface="+mj-lt"/>
              <a:cs typeface="Arial" panose="020B0604020202020204" pitchFamily="34" charset="0"/>
            </a:endParaRPr>
          </a:p>
          <a:p>
            <a:pPr lvl="1" algn="just"/>
            <a:r>
              <a:rPr lang="en-US" sz="2800">
                <a:latin typeface="+mj-lt"/>
                <a:cs typeface="Arial" panose="020B0604020202020204" pitchFamily="34" charset="0"/>
              </a:rPr>
              <a:t>Ví dụ: bảng HọcSinh, bảng MonHoc, bảng Diem và các khóa liên kết.</a:t>
            </a:r>
          </a:p>
          <a:p>
            <a:pPr marL="0" indent="0">
              <a:buNone/>
            </a:pPr>
            <a:endParaRPr lang="vi-VN" sz="320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5BB34430-A619-6B58-D1AD-1D317CD6ADBA}"/>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60BD0403-4C78-CE6A-3D6F-150F580E22F2}"/>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D8B6AF22-0058-90D4-98DE-2B821AA115A7}"/>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mức biểu diễn của </a:t>
              </a:r>
              <a:r>
                <a:rPr lang="en-US" sz="4000" b="1" kern="1200"/>
                <a:t>Cơ sở dữ liệu</a:t>
              </a:r>
            </a:p>
          </p:txBody>
        </p:sp>
      </p:grpSp>
      <p:sp>
        <p:nvSpPr>
          <p:cNvPr id="8" name="Oval 7">
            <a:extLst>
              <a:ext uri="{FF2B5EF4-FFF2-40B4-BE49-F238E27FC236}">
                <a16:creationId xmlns:a16="http://schemas.microsoft.com/office/drawing/2014/main" id="{C30E03D5-8701-619D-2230-85C6B8FAD1DC}"/>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717347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DE6FB-FD13-030B-456E-835F9FFC11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7FAFBA-9CE4-7604-2D5C-7491F93C0469}"/>
              </a:ext>
            </a:extLst>
          </p:cNvPr>
          <p:cNvSpPr>
            <a:spLocks noGrp="1"/>
          </p:cNvSpPr>
          <p:nvPr>
            <p:ph idx="1"/>
          </p:nvPr>
        </p:nvSpPr>
        <p:spPr>
          <a:xfrm>
            <a:off x="1484310" y="1817225"/>
            <a:ext cx="10018713" cy="2688100"/>
          </a:xfrm>
        </p:spPr>
        <p:txBody>
          <a:bodyPr>
            <a:noAutofit/>
          </a:bodyPr>
          <a:lstStyle/>
          <a:p>
            <a:r>
              <a:rPr lang="vi-VN" sz="2800" b="1">
                <a:latin typeface="Corbel" panose="020B0503020204020204" pitchFamily="34" charset="0"/>
              </a:rPr>
              <a:t>Mức khung nhìn (View level):</a:t>
            </a:r>
            <a:endParaRPr lang="vi-VN" sz="2800">
              <a:latin typeface="Corbel" panose="020B0503020204020204" pitchFamily="34" charset="0"/>
            </a:endParaRPr>
          </a:p>
          <a:p>
            <a:pPr lvl="1"/>
            <a:r>
              <a:rPr lang="vi-VN" sz="2800">
                <a:latin typeface="Corbel" panose="020B0503020204020204" pitchFamily="34" charset="0"/>
              </a:rPr>
              <a:t>Mô tả cách người dùng nhìn thấy dữ liệu.</a:t>
            </a:r>
          </a:p>
          <a:p>
            <a:pPr lvl="1"/>
            <a:r>
              <a:rPr lang="vi-VN" sz="2400">
                <a:latin typeface="Corbel" panose="020B0503020204020204" pitchFamily="34" charset="0"/>
              </a:rPr>
              <a:t>Ví dụ: học sinh chỉ thấy điểm của mình, giáo viên thấy điểm của cả lớp.</a:t>
            </a:r>
          </a:p>
          <a:p>
            <a:pPr marL="0" indent="0">
              <a:buNone/>
            </a:pPr>
            <a:endParaRPr lang="vi-VN" sz="320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9F923D23-AE3E-0059-0F91-9D2FF2EED41A}"/>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9C33C068-967F-493E-5BF3-090ACB66A4F7}"/>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34F826F7-A844-7C6E-BF8D-0725712893CA}"/>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mức biểu diễn của </a:t>
              </a:r>
              <a:r>
                <a:rPr lang="en-US" sz="4000" b="1" kern="1200"/>
                <a:t>Cơ sở dữ liệu</a:t>
              </a:r>
            </a:p>
          </p:txBody>
        </p:sp>
      </p:grpSp>
      <p:sp>
        <p:nvSpPr>
          <p:cNvPr id="8" name="Oval 7">
            <a:extLst>
              <a:ext uri="{FF2B5EF4-FFF2-40B4-BE49-F238E27FC236}">
                <a16:creationId xmlns:a16="http://schemas.microsoft.com/office/drawing/2014/main" id="{5EB1EA3D-B18E-AB05-E3ED-2252B48C8B3A}"/>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1705297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7A579-DA0A-4844-1A45-8F5024114C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EA9638-52A4-CADB-6A40-D482F6C8C29E}"/>
              </a:ext>
            </a:extLst>
          </p:cNvPr>
          <p:cNvSpPr>
            <a:spLocks noGrp="1"/>
          </p:cNvSpPr>
          <p:nvPr>
            <p:ph idx="1"/>
          </p:nvPr>
        </p:nvSpPr>
        <p:spPr>
          <a:xfrm>
            <a:off x="1484310" y="1817225"/>
            <a:ext cx="10018713" cy="4236334"/>
          </a:xfrm>
        </p:spPr>
        <p:txBody>
          <a:bodyPr>
            <a:noAutofit/>
          </a:bodyPr>
          <a:lstStyle/>
          <a:p>
            <a:pPr algn="just"/>
            <a:r>
              <a:rPr lang="en-US" sz="3000" i="1"/>
              <a:t>Mức khung nhìn </a:t>
            </a:r>
            <a:r>
              <a:rPr lang="en-US" sz="3000"/>
              <a:t>là cách cảm nhận của người dùng về dữ liệu</a:t>
            </a:r>
          </a:p>
          <a:p>
            <a:pPr algn="just"/>
            <a:r>
              <a:rPr lang="en-US" sz="3000" i="1"/>
              <a:t>Mức vật lí </a:t>
            </a:r>
            <a:r>
              <a:rPr lang="en-US" sz="3000"/>
              <a:t>là cách cảm nhận của hệ QTCSDL và hệ điều hành về dữ liệu. </a:t>
            </a:r>
          </a:p>
          <a:p>
            <a:pPr algn="just"/>
            <a:r>
              <a:rPr lang="en-US" sz="3000" i="1"/>
              <a:t>Mức logic </a:t>
            </a:r>
            <a:r>
              <a:rPr lang="en-US" sz="3000"/>
              <a:t>nằm giữa mức khung nhìn và mức vật lí, có thể coi đây là cách cảm nhận của toàn thể cộng đồng người sử dụng về dữ liệu. Tại mức logic tồn tại cả hai ánh xạ đến hai mức còn lại, tạo nên một sự độc lập đối với nhau của hai mức đó.</a:t>
            </a:r>
            <a:endParaRPr lang="vi-VN" sz="300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973DED57-EC09-CF8D-3CB3-4B421AE053A6}"/>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305765D8-710D-2CEC-BEA6-D39ECA22D06D}"/>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F31DA2F9-30C7-FED5-0593-6EB388928AB5}"/>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mức biểu diễn của </a:t>
              </a:r>
              <a:r>
                <a:rPr lang="en-US" sz="4000" b="1" kern="1200"/>
                <a:t>Cơ sở dữ liệu</a:t>
              </a:r>
            </a:p>
          </p:txBody>
        </p:sp>
      </p:grpSp>
      <p:sp>
        <p:nvSpPr>
          <p:cNvPr id="8" name="Oval 7">
            <a:extLst>
              <a:ext uri="{FF2B5EF4-FFF2-40B4-BE49-F238E27FC236}">
                <a16:creationId xmlns:a16="http://schemas.microsoft.com/office/drawing/2014/main" id="{6A2D8E07-7914-C2F8-AAD3-B381AB79793C}"/>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Tree>
    <p:extLst>
      <p:ext uri="{BB962C8B-B14F-4D97-AF65-F5344CB8AC3E}">
        <p14:creationId xmlns:p14="http://schemas.microsoft.com/office/powerpoint/2010/main" val="3671622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F8D90-0BA0-C9A5-61FD-C6A7DE3A862D}"/>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AA6E2FF-A4C9-9F53-72D6-047B40D2A423}"/>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307D1874-271A-EBF6-EA64-14A2BB7093B1}"/>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89DCC54E-93ED-2E2E-16BC-B09EF0CBB4E6}"/>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mức biểu diễn của </a:t>
              </a:r>
              <a:r>
                <a:rPr lang="en-US" sz="4000" b="1" kern="1200"/>
                <a:t>Cơ sở dữ liệu</a:t>
              </a:r>
            </a:p>
          </p:txBody>
        </p:sp>
      </p:grpSp>
      <p:sp>
        <p:nvSpPr>
          <p:cNvPr id="8" name="Oval 7">
            <a:extLst>
              <a:ext uri="{FF2B5EF4-FFF2-40B4-BE49-F238E27FC236}">
                <a16:creationId xmlns:a16="http://schemas.microsoft.com/office/drawing/2014/main" id="{348F7378-48D0-D207-E721-CB91D16156A7}"/>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1026" name="Picture 2" descr="Cơ sở dữ liệu và mô hình dữ liệu quan hệ">
            <a:extLst>
              <a:ext uri="{FF2B5EF4-FFF2-40B4-BE49-F238E27FC236}">
                <a16:creationId xmlns:a16="http://schemas.microsoft.com/office/drawing/2014/main" id="{CA0BD958-80D3-1210-A566-44F3E99F70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208" y="1914524"/>
            <a:ext cx="9582813" cy="4177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41575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0DE3B-90E9-B4D3-0E53-2DCFEB20192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1379BB-5F3A-1031-DE13-81B590D43FB1}"/>
              </a:ext>
            </a:extLst>
          </p:cNvPr>
          <p:cNvSpPr>
            <a:spLocks noGrp="1"/>
          </p:cNvSpPr>
          <p:nvPr>
            <p:ph idx="1"/>
          </p:nvPr>
        </p:nvSpPr>
        <p:spPr>
          <a:xfrm>
            <a:off x="1484310" y="1817225"/>
            <a:ext cx="10018713" cy="4016416"/>
          </a:xfrm>
        </p:spPr>
        <p:txBody>
          <a:bodyPr>
            <a:noAutofit/>
          </a:bodyPr>
          <a:lstStyle/>
          <a:p>
            <a:pPr marL="0" indent="0" algn="just">
              <a:buNone/>
            </a:pPr>
            <a:r>
              <a:rPr lang="en-US" sz="3200" b="1">
                <a:latin typeface="+mj-lt"/>
              </a:rPr>
              <a:t>📌 </a:t>
            </a:r>
            <a:r>
              <a:rPr lang="vi-VN" sz="3200" b="1">
                <a:latin typeface="+mj-lt"/>
              </a:rPr>
              <a:t>Mô hình biểu diễn dữ liệu</a:t>
            </a:r>
          </a:p>
          <a:p>
            <a:pPr algn="just"/>
            <a:r>
              <a:rPr lang="vi-VN" sz="3200">
                <a:latin typeface="+mj-lt"/>
              </a:rPr>
              <a:t>Là </a:t>
            </a:r>
            <a:r>
              <a:rPr lang="en-US" sz="3200">
                <a:latin typeface="+mj-lt"/>
                <a:cs typeface="Arial" panose="020B0604020202020204" pitchFamily="34" charset="0"/>
              </a:rPr>
              <a:t>công cụ trừu tượng hóa, mô tả </a:t>
            </a:r>
            <a:r>
              <a:rPr lang="vi-VN" sz="3200" b="1" i="1">
                <a:solidFill>
                  <a:srgbClr val="FF0000"/>
                </a:solidFill>
                <a:latin typeface="Corbel" panose="020B0503020204020204" pitchFamily="34" charset="0"/>
              </a:rPr>
              <a:t>cách tổ chức và mô tả dữ liệu</a:t>
            </a:r>
            <a:r>
              <a:rPr lang="vi-VN" sz="3200" i="1">
                <a:solidFill>
                  <a:srgbClr val="FF0000"/>
                </a:solidFill>
                <a:latin typeface="Corbel" panose="020B0503020204020204" pitchFamily="34" charset="0"/>
              </a:rPr>
              <a:t> </a:t>
            </a:r>
            <a:r>
              <a:rPr lang="vi-VN" sz="3200">
                <a:latin typeface="Corbel" panose="020B0503020204020204" pitchFamily="34" charset="0"/>
              </a:rPr>
              <a:t>trong CSDL.</a:t>
            </a:r>
          </a:p>
          <a:p>
            <a:pPr algn="just"/>
            <a:r>
              <a:rPr lang="vi-VN" sz="3200">
                <a:latin typeface="Corbel" panose="020B0503020204020204" pitchFamily="34" charset="0"/>
              </a:rPr>
              <a:t>Cho biết dữ liệu được lưu dưới dạng nào (cây, mạng, bảng, đối tượng…).</a:t>
            </a:r>
          </a:p>
          <a:p>
            <a:pPr algn="just"/>
            <a:r>
              <a:rPr lang="vi-VN" sz="3200">
                <a:latin typeface="Corbel" panose="020B0503020204020204" pitchFamily="34" charset="0"/>
              </a:rPr>
              <a:t>Giúp người dùng và phần mềm </a:t>
            </a:r>
            <a:r>
              <a:rPr lang="vi-VN" sz="3200" b="1" i="1">
                <a:solidFill>
                  <a:srgbClr val="FF0000"/>
                </a:solidFill>
                <a:latin typeface="Corbel" panose="020B0503020204020204" pitchFamily="34" charset="0"/>
              </a:rPr>
              <a:t>hình dung cấu trúc dữ liệu</a:t>
            </a:r>
            <a:r>
              <a:rPr lang="vi-VN" sz="3200">
                <a:latin typeface="Corbel" panose="020B0503020204020204" pitchFamily="34" charset="0"/>
              </a:rPr>
              <a:t> và mối quan hệ giữa chúng.</a:t>
            </a:r>
          </a:p>
        </p:txBody>
      </p:sp>
      <p:grpSp>
        <p:nvGrpSpPr>
          <p:cNvPr id="2" name="Group 1">
            <a:extLst>
              <a:ext uri="{FF2B5EF4-FFF2-40B4-BE49-F238E27FC236}">
                <a16:creationId xmlns:a16="http://schemas.microsoft.com/office/drawing/2014/main" id="{B17300FA-522B-DE50-E267-D92E954C293B}"/>
              </a:ext>
            </a:extLst>
          </p:cNvPr>
          <p:cNvGrpSpPr/>
          <p:nvPr/>
        </p:nvGrpSpPr>
        <p:grpSpPr>
          <a:xfrm>
            <a:off x="1589676" y="633060"/>
            <a:ext cx="9792699" cy="727172"/>
            <a:chOff x="1589676" y="633060"/>
            <a:chExt cx="9792699" cy="727172"/>
          </a:xfrm>
        </p:grpSpPr>
        <p:grpSp>
          <p:nvGrpSpPr>
            <p:cNvPr id="7" name="Group 6">
              <a:extLst>
                <a:ext uri="{FF2B5EF4-FFF2-40B4-BE49-F238E27FC236}">
                  <a16:creationId xmlns:a16="http://schemas.microsoft.com/office/drawing/2014/main" id="{36E67BE9-CC99-4590-61BB-1FA5E7C68FCC}"/>
                </a:ext>
              </a:extLst>
            </p:cNvPr>
            <p:cNvGrpSpPr/>
            <p:nvPr/>
          </p:nvGrpSpPr>
          <p:grpSpPr>
            <a:xfrm>
              <a:off x="1920209" y="699166"/>
              <a:ext cx="9462166" cy="661066"/>
              <a:chOff x="390603" y="264288"/>
              <a:chExt cx="9582814" cy="661066"/>
            </a:xfrm>
          </p:grpSpPr>
          <p:sp>
            <p:nvSpPr>
              <p:cNvPr id="9" name="Rectangle 8">
                <a:extLst>
                  <a:ext uri="{FF2B5EF4-FFF2-40B4-BE49-F238E27FC236}">
                    <a16:creationId xmlns:a16="http://schemas.microsoft.com/office/drawing/2014/main" id="{67083176-49BD-849B-5F15-068F2DCF7175}"/>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58A51D36-DB0F-24A2-2BDF-7820D8800E48}"/>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8" name="Oval 7">
              <a:extLst>
                <a:ext uri="{FF2B5EF4-FFF2-40B4-BE49-F238E27FC236}">
                  <a16:creationId xmlns:a16="http://schemas.microsoft.com/office/drawing/2014/main" id="{15AB19A7-384E-34F8-A8D7-20298CE4568B}"/>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3011617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B8DB8-D533-65D6-9E5B-FB1F4E5C1D4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BC276-0409-44DF-1749-BED569395DF9}"/>
              </a:ext>
            </a:extLst>
          </p:cNvPr>
          <p:cNvSpPr>
            <a:spLocks noGrp="1"/>
          </p:cNvSpPr>
          <p:nvPr>
            <p:ph idx="1"/>
          </p:nvPr>
        </p:nvSpPr>
        <p:spPr>
          <a:xfrm>
            <a:off x="1589676" y="1752599"/>
            <a:ext cx="10018713" cy="2828926"/>
          </a:xfrm>
        </p:spPr>
        <p:txBody>
          <a:bodyPr>
            <a:noAutofit/>
          </a:bodyPr>
          <a:lstStyle/>
          <a:p>
            <a:pPr marL="0" indent="0" algn="just">
              <a:buNone/>
            </a:pPr>
            <a:r>
              <a:rPr lang="en-US" sz="2800" b="1">
                <a:latin typeface="+mj-lt"/>
              </a:rPr>
              <a:t>📌 </a:t>
            </a:r>
            <a:r>
              <a:rPr lang="en-US" sz="2800" b="1">
                <a:latin typeface="+mj-lt"/>
                <a:cs typeface="Arial" panose="020B0604020202020204" pitchFamily="34" charset="0"/>
              </a:rPr>
              <a:t>Phân loại m</a:t>
            </a:r>
            <a:r>
              <a:rPr lang="vi-VN" sz="2800" b="1">
                <a:latin typeface="+mj-lt"/>
                <a:cs typeface="Arial" panose="020B0604020202020204" pitchFamily="34" charset="0"/>
              </a:rPr>
              <a:t>ô hình biểu diễn dữ liệu</a:t>
            </a:r>
          </a:p>
          <a:p>
            <a:pPr algn="just"/>
            <a:r>
              <a:rPr lang="en-US" sz="2800" i="1">
                <a:latin typeface="+mj-lt"/>
              </a:rPr>
              <a:t>Mô hình dữ liệu bậc cao (Mô hình dữ liệu mức quan niệm)</a:t>
            </a:r>
          </a:p>
          <a:p>
            <a:pPr algn="just"/>
            <a:r>
              <a:rPr lang="en-US" sz="2800" i="1">
                <a:latin typeface="+mj-lt"/>
              </a:rPr>
              <a:t>Mô hình dữ liệu mức logic</a:t>
            </a:r>
          </a:p>
          <a:p>
            <a:pPr algn="just"/>
            <a:r>
              <a:rPr lang="en-US" sz="2800" i="1">
                <a:latin typeface="+mj-lt"/>
              </a:rPr>
              <a:t>Mô hình dữ liệu bậc thấp (Mô hình dữ liệu  mức vật lý )</a:t>
            </a:r>
          </a:p>
          <a:p>
            <a:pPr algn="just"/>
            <a:endParaRPr lang="vi-VN" sz="3200"/>
          </a:p>
        </p:txBody>
      </p:sp>
      <p:grpSp>
        <p:nvGrpSpPr>
          <p:cNvPr id="2" name="Group 1">
            <a:extLst>
              <a:ext uri="{FF2B5EF4-FFF2-40B4-BE49-F238E27FC236}">
                <a16:creationId xmlns:a16="http://schemas.microsoft.com/office/drawing/2014/main" id="{5FB3813C-80AE-A9A8-AD52-BF6DDF3A7134}"/>
              </a:ext>
            </a:extLst>
          </p:cNvPr>
          <p:cNvGrpSpPr/>
          <p:nvPr/>
        </p:nvGrpSpPr>
        <p:grpSpPr>
          <a:xfrm>
            <a:off x="1589676" y="633060"/>
            <a:ext cx="9792699" cy="727172"/>
            <a:chOff x="1589676" y="633060"/>
            <a:chExt cx="9792699" cy="727172"/>
          </a:xfrm>
        </p:grpSpPr>
        <p:grpSp>
          <p:nvGrpSpPr>
            <p:cNvPr id="7" name="Group 6">
              <a:extLst>
                <a:ext uri="{FF2B5EF4-FFF2-40B4-BE49-F238E27FC236}">
                  <a16:creationId xmlns:a16="http://schemas.microsoft.com/office/drawing/2014/main" id="{74912D46-95BD-356E-6549-B30D1A245E2C}"/>
                </a:ext>
              </a:extLst>
            </p:cNvPr>
            <p:cNvGrpSpPr/>
            <p:nvPr/>
          </p:nvGrpSpPr>
          <p:grpSpPr>
            <a:xfrm>
              <a:off x="1920209" y="699166"/>
              <a:ext cx="9462166" cy="661066"/>
              <a:chOff x="390603" y="264288"/>
              <a:chExt cx="9582814" cy="661066"/>
            </a:xfrm>
          </p:grpSpPr>
          <p:sp>
            <p:nvSpPr>
              <p:cNvPr id="9" name="Rectangle 8">
                <a:extLst>
                  <a:ext uri="{FF2B5EF4-FFF2-40B4-BE49-F238E27FC236}">
                    <a16:creationId xmlns:a16="http://schemas.microsoft.com/office/drawing/2014/main" id="{2C7B1A4B-1B64-9BF1-2487-3A38B84DA837}"/>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AC59C4CE-9C50-26F5-19CC-041ED885AE79}"/>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8" name="Oval 7">
              <a:extLst>
                <a:ext uri="{FF2B5EF4-FFF2-40B4-BE49-F238E27FC236}">
                  <a16:creationId xmlns:a16="http://schemas.microsoft.com/office/drawing/2014/main" id="{EE1BBD97-0173-E58B-0609-8140F6A2EF8D}"/>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1935726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DE3C3-B8E5-9E98-31B5-1BCDBF2391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BB3F9F-A588-F47C-271E-D3C840C4AF46}"/>
              </a:ext>
            </a:extLst>
          </p:cNvPr>
          <p:cNvSpPr>
            <a:spLocks noGrp="1"/>
          </p:cNvSpPr>
          <p:nvPr>
            <p:ph idx="1"/>
          </p:nvPr>
        </p:nvSpPr>
        <p:spPr>
          <a:xfrm>
            <a:off x="1484310" y="1817224"/>
            <a:ext cx="10018713" cy="4341609"/>
          </a:xfrm>
        </p:spPr>
        <p:txBody>
          <a:bodyPr>
            <a:noAutofit/>
          </a:bodyPr>
          <a:lstStyle/>
          <a:p>
            <a:pPr marL="0" indent="0" algn="just">
              <a:buNone/>
            </a:pPr>
            <a:r>
              <a:rPr lang="en-US" sz="3200" b="1"/>
              <a:t>📌 </a:t>
            </a:r>
            <a:r>
              <a:rPr lang="en-US" sz="3200" b="1">
                <a:latin typeface="Arial" panose="020B0604020202020204" pitchFamily="34" charset="0"/>
                <a:cs typeface="Arial" panose="020B0604020202020204" pitchFamily="34" charset="0"/>
              </a:rPr>
              <a:t>Phân loại m</a:t>
            </a:r>
            <a:r>
              <a:rPr lang="vi-VN" sz="3200" b="1">
                <a:latin typeface="Arial" panose="020B0604020202020204" pitchFamily="34" charset="0"/>
                <a:cs typeface="Arial" panose="020B0604020202020204" pitchFamily="34" charset="0"/>
              </a:rPr>
              <a:t>ô hình biểu diễn dữ liệu</a:t>
            </a:r>
          </a:p>
          <a:p>
            <a:pPr algn="just"/>
            <a:r>
              <a:rPr lang="en-US" sz="3200" i="1"/>
              <a:t>Mô hình dữ liệu bậc cao (Mô hình dữ liệu mức quan niệm)</a:t>
            </a:r>
          </a:p>
          <a:p>
            <a:pPr lvl="1" algn="just"/>
            <a:r>
              <a:rPr lang="en-US" sz="2800"/>
              <a:t>Cung cấp các khái niệm gắn liền với cách cảm nhận dữ liệu của nhiều người sử dụng. </a:t>
            </a:r>
          </a:p>
          <a:p>
            <a:pPr lvl="1" algn="just"/>
            <a:r>
              <a:rPr lang="vi-VN" sz="2800">
                <a:latin typeface="Corbel" panose="020B0503020204020204" pitchFamily="34" charset="0"/>
              </a:rPr>
              <a:t>Mô tả dữ liệu ở mức ý tưởng, độc lập với phần cứng/phần mềm.</a:t>
            </a:r>
            <a:endParaRPr lang="en-US" sz="2800">
              <a:latin typeface="Corbel" panose="020B0503020204020204" pitchFamily="34" charset="0"/>
            </a:endParaRPr>
          </a:p>
          <a:p>
            <a:pPr lvl="1" algn="just"/>
            <a:r>
              <a:rPr lang="en-US" sz="2800"/>
              <a:t>Các mô hình này tập trung vào bản chất logic của biểu diễn dữ liệu, nó quan tâm đến </a:t>
            </a:r>
            <a:r>
              <a:rPr lang="en-US" sz="2800" i="1"/>
              <a:t>cái </a:t>
            </a:r>
            <a:r>
              <a:rPr lang="en-US" sz="2800"/>
              <a:t>được biểu diễn trong cơ sở dữ liệu chứ không phải </a:t>
            </a:r>
            <a:r>
              <a:rPr lang="en-US" sz="2800" i="1"/>
              <a:t>cách </a:t>
            </a:r>
            <a:r>
              <a:rPr lang="en-US" sz="2800"/>
              <a:t>biểu diễn dữ liệu.</a:t>
            </a:r>
            <a:endParaRPr lang="vi-VN" sz="2800"/>
          </a:p>
        </p:txBody>
      </p:sp>
      <p:grpSp>
        <p:nvGrpSpPr>
          <p:cNvPr id="2" name="Group 1">
            <a:extLst>
              <a:ext uri="{FF2B5EF4-FFF2-40B4-BE49-F238E27FC236}">
                <a16:creationId xmlns:a16="http://schemas.microsoft.com/office/drawing/2014/main" id="{4A6CF05D-EDF2-AB9D-0EC0-684D35848774}"/>
              </a:ext>
            </a:extLst>
          </p:cNvPr>
          <p:cNvGrpSpPr/>
          <p:nvPr/>
        </p:nvGrpSpPr>
        <p:grpSpPr>
          <a:xfrm>
            <a:off x="1589676" y="633060"/>
            <a:ext cx="9792699" cy="727172"/>
            <a:chOff x="1589676" y="633060"/>
            <a:chExt cx="9792699" cy="727172"/>
          </a:xfrm>
        </p:grpSpPr>
        <p:grpSp>
          <p:nvGrpSpPr>
            <p:cNvPr id="7" name="Group 6">
              <a:extLst>
                <a:ext uri="{FF2B5EF4-FFF2-40B4-BE49-F238E27FC236}">
                  <a16:creationId xmlns:a16="http://schemas.microsoft.com/office/drawing/2014/main" id="{C4607054-A98A-8792-743B-348AE1D81048}"/>
                </a:ext>
              </a:extLst>
            </p:cNvPr>
            <p:cNvGrpSpPr/>
            <p:nvPr/>
          </p:nvGrpSpPr>
          <p:grpSpPr>
            <a:xfrm>
              <a:off x="1920209" y="699166"/>
              <a:ext cx="9462166" cy="661066"/>
              <a:chOff x="390603" y="264288"/>
              <a:chExt cx="9582814" cy="661066"/>
            </a:xfrm>
          </p:grpSpPr>
          <p:sp>
            <p:nvSpPr>
              <p:cNvPr id="9" name="Rectangle 8">
                <a:extLst>
                  <a:ext uri="{FF2B5EF4-FFF2-40B4-BE49-F238E27FC236}">
                    <a16:creationId xmlns:a16="http://schemas.microsoft.com/office/drawing/2014/main" id="{3EDC9A84-11AC-5B87-A9E8-6140F412D236}"/>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0365B830-B067-F3A5-4C51-5BF52E9CD338}"/>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8" name="Oval 7">
              <a:extLst>
                <a:ext uri="{FF2B5EF4-FFF2-40B4-BE49-F238E27FC236}">
                  <a16:creationId xmlns:a16="http://schemas.microsoft.com/office/drawing/2014/main" id="{16E39BB8-E144-285B-7D87-4F0200BEFBDB}"/>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2459320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BB79A-0BBB-DA8A-EBF6-E66522EA7B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1D0B6F-F1AC-7454-6F6D-033F9E3542C2}"/>
              </a:ext>
            </a:extLst>
          </p:cNvPr>
          <p:cNvSpPr>
            <a:spLocks noGrp="1"/>
          </p:cNvSpPr>
          <p:nvPr>
            <p:ph idx="1"/>
          </p:nvPr>
        </p:nvSpPr>
        <p:spPr>
          <a:xfrm>
            <a:off x="1484310" y="1817224"/>
            <a:ext cx="10018713" cy="4341609"/>
          </a:xfrm>
        </p:spPr>
        <p:txBody>
          <a:bodyPr>
            <a:noAutofit/>
          </a:bodyPr>
          <a:lstStyle/>
          <a:p>
            <a:pPr marL="0" indent="0" algn="just">
              <a:buNone/>
            </a:pPr>
            <a:r>
              <a:rPr lang="en-US" sz="3200" b="1"/>
              <a:t>📌 </a:t>
            </a:r>
            <a:r>
              <a:rPr lang="en-US" sz="3200" b="1">
                <a:latin typeface="Arial" panose="020B0604020202020204" pitchFamily="34" charset="0"/>
                <a:cs typeface="Arial" panose="020B0604020202020204" pitchFamily="34" charset="0"/>
              </a:rPr>
              <a:t>Phân loại m</a:t>
            </a:r>
            <a:r>
              <a:rPr lang="vi-VN" sz="3200" b="1">
                <a:latin typeface="Arial" panose="020B0604020202020204" pitchFamily="34" charset="0"/>
                <a:cs typeface="Arial" panose="020B0604020202020204" pitchFamily="34" charset="0"/>
              </a:rPr>
              <a:t>ô hình biểu diễn dữ liệu</a:t>
            </a:r>
          </a:p>
          <a:p>
            <a:pPr algn="just"/>
            <a:r>
              <a:rPr lang="en-US" sz="3200" i="1"/>
              <a:t>Mô hình dữ liệu mức logic</a:t>
            </a:r>
          </a:p>
          <a:p>
            <a:pPr lvl="1" algn="just"/>
            <a:r>
              <a:rPr lang="en-US" sz="2800"/>
              <a:t>Cung cấp những khái niệm mà người sử dụng có thể hiểu được và không xa với cách tổ chức dữ liệu bên trong máy tính.</a:t>
            </a:r>
          </a:p>
          <a:p>
            <a:pPr lvl="1" algn="just"/>
            <a:r>
              <a:rPr lang="vi-VN" sz="2800">
                <a:latin typeface="Corbel" panose="020B0503020204020204" pitchFamily="34" charset="0"/>
              </a:rPr>
              <a:t>Mô tả cách dữ liệu được tổ chức trong hệ quản trị CSDL.</a:t>
            </a:r>
            <a:endParaRPr lang="en-US" sz="2800">
              <a:latin typeface="Corbel" panose="020B0503020204020204" pitchFamily="34" charset="0"/>
            </a:endParaRPr>
          </a:p>
          <a:p>
            <a:pPr lvl="1" algn="just"/>
            <a:r>
              <a:rPr lang="en-US" sz="2800"/>
              <a:t>Các mô hình dữ liệu mức logic che giấu một số chi tiết về việc lưu trữ dữ liệu nhưng có thể được cài đặt trực tiếp trên hệ thống máy tính. </a:t>
            </a:r>
            <a:endParaRPr lang="vi-VN" sz="2800"/>
          </a:p>
        </p:txBody>
      </p:sp>
      <p:grpSp>
        <p:nvGrpSpPr>
          <p:cNvPr id="2" name="Group 1">
            <a:extLst>
              <a:ext uri="{FF2B5EF4-FFF2-40B4-BE49-F238E27FC236}">
                <a16:creationId xmlns:a16="http://schemas.microsoft.com/office/drawing/2014/main" id="{288C2BC6-6F23-D32D-7280-1FD65AAFA3E1}"/>
              </a:ext>
            </a:extLst>
          </p:cNvPr>
          <p:cNvGrpSpPr/>
          <p:nvPr/>
        </p:nvGrpSpPr>
        <p:grpSpPr>
          <a:xfrm>
            <a:off x="1589676" y="633060"/>
            <a:ext cx="9792699" cy="727172"/>
            <a:chOff x="1589676" y="633060"/>
            <a:chExt cx="9792699" cy="727172"/>
          </a:xfrm>
        </p:grpSpPr>
        <p:grpSp>
          <p:nvGrpSpPr>
            <p:cNvPr id="7" name="Group 6">
              <a:extLst>
                <a:ext uri="{FF2B5EF4-FFF2-40B4-BE49-F238E27FC236}">
                  <a16:creationId xmlns:a16="http://schemas.microsoft.com/office/drawing/2014/main" id="{D8DD081B-BB9E-F62E-5A39-39438AC9D0E8}"/>
                </a:ext>
              </a:extLst>
            </p:cNvPr>
            <p:cNvGrpSpPr/>
            <p:nvPr/>
          </p:nvGrpSpPr>
          <p:grpSpPr>
            <a:xfrm>
              <a:off x="1920209" y="699166"/>
              <a:ext cx="9462166" cy="661066"/>
              <a:chOff x="390603" y="264288"/>
              <a:chExt cx="9582814" cy="661066"/>
            </a:xfrm>
          </p:grpSpPr>
          <p:sp>
            <p:nvSpPr>
              <p:cNvPr id="9" name="Rectangle 8">
                <a:extLst>
                  <a:ext uri="{FF2B5EF4-FFF2-40B4-BE49-F238E27FC236}">
                    <a16:creationId xmlns:a16="http://schemas.microsoft.com/office/drawing/2014/main" id="{FCE0F287-4CA2-00E8-1EB6-6683C40226DB}"/>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D2612B1A-BF2D-AC35-7122-BE660E08C2CE}"/>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8" name="Oval 7">
              <a:extLst>
                <a:ext uri="{FF2B5EF4-FFF2-40B4-BE49-F238E27FC236}">
                  <a16:creationId xmlns:a16="http://schemas.microsoft.com/office/drawing/2014/main" id="{F93E715E-418A-DA23-E957-F7C66DE30828}"/>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28025289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EDBB3-1D22-C7A3-DCBF-754E7A0648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3B8CAF-FA1F-3CE9-F452-40DAA8D24C9A}"/>
              </a:ext>
            </a:extLst>
          </p:cNvPr>
          <p:cNvSpPr>
            <a:spLocks noGrp="1"/>
          </p:cNvSpPr>
          <p:nvPr>
            <p:ph idx="1"/>
          </p:nvPr>
        </p:nvSpPr>
        <p:spPr>
          <a:xfrm>
            <a:off x="1484310" y="1904999"/>
            <a:ext cx="10018713" cy="4505325"/>
          </a:xfrm>
        </p:spPr>
        <p:txBody>
          <a:bodyPr>
            <a:noAutofit/>
          </a:bodyPr>
          <a:lstStyle/>
          <a:p>
            <a:pPr marL="0" indent="0" algn="just">
              <a:buNone/>
            </a:pPr>
            <a:r>
              <a:rPr lang="en-US" sz="3200" b="1"/>
              <a:t>📌 </a:t>
            </a:r>
            <a:r>
              <a:rPr lang="en-US" sz="3200" b="1">
                <a:latin typeface="Arial" panose="020B0604020202020204" pitchFamily="34" charset="0"/>
                <a:cs typeface="Arial" panose="020B0604020202020204" pitchFamily="34" charset="0"/>
              </a:rPr>
              <a:t>Phân loại m</a:t>
            </a:r>
            <a:r>
              <a:rPr lang="vi-VN" sz="3200" b="1">
                <a:latin typeface="Arial" panose="020B0604020202020204" pitchFamily="34" charset="0"/>
                <a:cs typeface="Arial" panose="020B0604020202020204" pitchFamily="34" charset="0"/>
              </a:rPr>
              <a:t>ô hình biểu diễn dữ liệu</a:t>
            </a:r>
          </a:p>
          <a:p>
            <a:pPr algn="just"/>
            <a:r>
              <a:rPr lang="en-US" sz="3200" i="1">
                <a:latin typeface="+mj-lt"/>
              </a:rPr>
              <a:t>Mô hình dữ liệu bậc thấp (mức vật lý)</a:t>
            </a:r>
          </a:p>
          <a:p>
            <a:pPr lvl="1" algn="just"/>
            <a:r>
              <a:rPr lang="en-US" sz="2800">
                <a:latin typeface="+mj-lt"/>
                <a:cs typeface="Arial" panose="020B0604020202020204" pitchFamily="34" charset="0"/>
              </a:rPr>
              <a:t>Cung cấp các khái niệm mô tả chi tiết về việc các dữ liệu được lưu trữ trong máy tính như thế nào</a:t>
            </a:r>
          </a:p>
          <a:p>
            <a:pPr lvl="1" algn="just"/>
            <a:r>
              <a:rPr lang="vi-VN" sz="2800">
                <a:latin typeface="Corbel" panose="020B0503020204020204" pitchFamily="34" charset="0"/>
              </a:rPr>
              <a:t>Liên quan đến file, chỉ mục, cấu trúc lưu trữ, tối ưu truy xuất.</a:t>
            </a:r>
            <a:endParaRPr lang="en-US" sz="2800">
              <a:latin typeface="Corbel" panose="020B0503020204020204" pitchFamily="34" charset="0"/>
            </a:endParaRPr>
          </a:p>
          <a:p>
            <a:pPr lvl="1" algn="just"/>
            <a:r>
              <a:rPr lang="en-US" sz="2800">
                <a:latin typeface="+mj-lt"/>
                <a:cs typeface="Arial" panose="020B0604020202020204" pitchFamily="34" charset="0"/>
              </a:rPr>
              <a:t>Các khái niệm do mô hình dữ liệu vật lý cung cấp nói chung có ý nghĩa đối với các </a:t>
            </a:r>
            <a:r>
              <a:rPr lang="en-US" sz="2800" b="1">
                <a:latin typeface="+mj-lt"/>
                <a:cs typeface="Arial" panose="020B0604020202020204" pitchFamily="34" charset="0"/>
              </a:rPr>
              <a:t>chuyên gia máy tính </a:t>
            </a:r>
            <a:r>
              <a:rPr lang="en-US" sz="2800">
                <a:latin typeface="+mj-lt"/>
                <a:cs typeface="Arial" panose="020B0604020202020204" pitchFamily="34" charset="0"/>
              </a:rPr>
              <a:t>chứ </a:t>
            </a:r>
            <a:r>
              <a:rPr lang="en-US" sz="2800" b="1">
                <a:solidFill>
                  <a:srgbClr val="FF0000"/>
                </a:solidFill>
                <a:latin typeface="+mj-lt"/>
                <a:cs typeface="Arial" panose="020B0604020202020204" pitchFamily="34" charset="0"/>
              </a:rPr>
              <a:t>không có ý nghĩa mấy đối với người sử dụng thông thường</a:t>
            </a:r>
            <a:r>
              <a:rPr lang="en-US" sz="2800">
                <a:latin typeface="+mj-lt"/>
                <a:cs typeface="Arial" panose="020B0604020202020204" pitchFamily="34" charset="0"/>
              </a:rPr>
              <a:t>.  </a:t>
            </a:r>
            <a:endParaRPr lang="vi-VN" sz="2800">
              <a:latin typeface="+mj-lt"/>
              <a:cs typeface="Arial" panose="020B0604020202020204" pitchFamily="34" charset="0"/>
            </a:endParaRPr>
          </a:p>
        </p:txBody>
      </p:sp>
      <p:grpSp>
        <p:nvGrpSpPr>
          <p:cNvPr id="2" name="Group 1">
            <a:extLst>
              <a:ext uri="{FF2B5EF4-FFF2-40B4-BE49-F238E27FC236}">
                <a16:creationId xmlns:a16="http://schemas.microsoft.com/office/drawing/2014/main" id="{92C949D6-8527-67CE-6EC0-0A6FC0FCB6FC}"/>
              </a:ext>
            </a:extLst>
          </p:cNvPr>
          <p:cNvGrpSpPr/>
          <p:nvPr/>
        </p:nvGrpSpPr>
        <p:grpSpPr>
          <a:xfrm>
            <a:off x="1589676" y="633060"/>
            <a:ext cx="9792699" cy="727172"/>
            <a:chOff x="1589676" y="633060"/>
            <a:chExt cx="9792699" cy="727172"/>
          </a:xfrm>
        </p:grpSpPr>
        <p:grpSp>
          <p:nvGrpSpPr>
            <p:cNvPr id="7" name="Group 6">
              <a:extLst>
                <a:ext uri="{FF2B5EF4-FFF2-40B4-BE49-F238E27FC236}">
                  <a16:creationId xmlns:a16="http://schemas.microsoft.com/office/drawing/2014/main" id="{BAC79E58-312C-2776-7ADD-F8F8317608BA}"/>
                </a:ext>
              </a:extLst>
            </p:cNvPr>
            <p:cNvGrpSpPr/>
            <p:nvPr/>
          </p:nvGrpSpPr>
          <p:grpSpPr>
            <a:xfrm>
              <a:off x="1920209" y="699166"/>
              <a:ext cx="9462166" cy="661066"/>
              <a:chOff x="390603" y="264288"/>
              <a:chExt cx="9582814" cy="661066"/>
            </a:xfrm>
          </p:grpSpPr>
          <p:sp>
            <p:nvSpPr>
              <p:cNvPr id="9" name="Rectangle 8">
                <a:extLst>
                  <a:ext uri="{FF2B5EF4-FFF2-40B4-BE49-F238E27FC236}">
                    <a16:creationId xmlns:a16="http://schemas.microsoft.com/office/drawing/2014/main" id="{F06BFFB5-BA48-FFCE-EEEA-D9C261E4384F}"/>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F03A0348-25CA-91EE-D95C-1BDCB837198E}"/>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8" name="Oval 7">
              <a:extLst>
                <a:ext uri="{FF2B5EF4-FFF2-40B4-BE49-F238E27FC236}">
                  <a16:creationId xmlns:a16="http://schemas.microsoft.com/office/drawing/2014/main" id="{1788A221-6C67-DB2E-F890-5FE4F26572D2}"/>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1080785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7BDAF-B96E-F593-9012-8E5BD52382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DED399-0FBD-F469-7D66-61CB5F1F2830}"/>
              </a:ext>
            </a:extLst>
          </p:cNvPr>
          <p:cNvSpPr>
            <a:spLocks noGrp="1"/>
          </p:cNvSpPr>
          <p:nvPr>
            <p:ph idx="1"/>
          </p:nvPr>
        </p:nvSpPr>
        <p:spPr>
          <a:xfrm>
            <a:off x="1484310" y="1598150"/>
            <a:ext cx="10018713" cy="2183275"/>
          </a:xfrm>
        </p:spPr>
        <p:txBody>
          <a:bodyPr>
            <a:noAutofit/>
          </a:bodyPr>
          <a:lstStyle/>
          <a:p>
            <a:pPr algn="just"/>
            <a:r>
              <a:rPr lang="vi-VN" sz="3200" b="1">
                <a:latin typeface="+mj-lt"/>
              </a:rPr>
              <a:t>Mô hình </a:t>
            </a:r>
            <a:r>
              <a:rPr lang="en-US" sz="3200" b="1">
                <a:latin typeface="Arial" panose="020B0604020202020204" pitchFamily="34" charset="0"/>
                <a:cs typeface="Arial" panose="020B0604020202020204" pitchFamily="34" charset="0"/>
              </a:rPr>
              <a:t>thực thể liên kết</a:t>
            </a:r>
            <a:endParaRPr lang="vi-VN" sz="3200" b="1">
              <a:latin typeface="Arial" panose="020B0604020202020204" pitchFamily="34" charset="0"/>
              <a:cs typeface="Arial" panose="020B0604020202020204" pitchFamily="34" charset="0"/>
            </a:endParaRPr>
          </a:p>
          <a:p>
            <a:pPr lvl="1" algn="just"/>
            <a:r>
              <a:rPr lang="en-US" sz="2800"/>
              <a:t>Đây là mô hình dữ liệu mức quan niệm</a:t>
            </a:r>
          </a:p>
          <a:p>
            <a:pPr lvl="1" algn="just"/>
            <a:r>
              <a:rPr lang="en-US" sz="2800"/>
              <a:t>Mô hình này sử dụng các khái niệm thực thể, thuộc tính, mối liên kết để diễn đạt các đối tượng của thế giới thực.</a:t>
            </a:r>
            <a:endParaRPr lang="vi-VN" sz="2800"/>
          </a:p>
        </p:txBody>
      </p:sp>
      <p:grpSp>
        <p:nvGrpSpPr>
          <p:cNvPr id="7" name="Group 6">
            <a:extLst>
              <a:ext uri="{FF2B5EF4-FFF2-40B4-BE49-F238E27FC236}">
                <a16:creationId xmlns:a16="http://schemas.microsoft.com/office/drawing/2014/main" id="{25D2A285-A6A1-BD98-0E08-B56300B34F2A}"/>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FA72C9D3-87DA-410B-C4FD-434E9989B60C}"/>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9A994219-D882-20F0-5DE4-80122B9E7086}"/>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865A878C-3AD3-9BCF-9EF2-BDBBBCD14819}"/>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2" name="Picture 1">
            <a:extLst>
              <a:ext uri="{FF2B5EF4-FFF2-40B4-BE49-F238E27FC236}">
                <a16:creationId xmlns:a16="http://schemas.microsoft.com/office/drawing/2014/main" id="{E629815A-3055-06CC-4B5E-1810F103A1F9}"/>
              </a:ext>
            </a:extLst>
          </p:cNvPr>
          <p:cNvPicPr>
            <a:picLocks noChangeAspect="1"/>
          </p:cNvPicPr>
          <p:nvPr/>
        </p:nvPicPr>
        <p:blipFill>
          <a:blip r:embed="rId2"/>
          <a:stretch>
            <a:fillRect/>
          </a:stretch>
        </p:blipFill>
        <p:spPr>
          <a:xfrm>
            <a:off x="3600450" y="3781425"/>
            <a:ext cx="5562600" cy="2988418"/>
          </a:xfrm>
          <a:prstGeom prst="rect">
            <a:avLst/>
          </a:prstGeom>
        </p:spPr>
      </p:pic>
    </p:spTree>
    <p:extLst>
      <p:ext uri="{BB962C8B-B14F-4D97-AF65-F5344CB8AC3E}">
        <p14:creationId xmlns:p14="http://schemas.microsoft.com/office/powerpoint/2010/main" val="4195927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928F6-4609-B623-ADC8-D237982CB08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6351A2-6484-0829-ED2E-1305D976FB4E}"/>
              </a:ext>
            </a:extLst>
          </p:cNvPr>
          <p:cNvSpPr>
            <a:spLocks noGrp="1"/>
          </p:cNvSpPr>
          <p:nvPr>
            <p:ph idx="1"/>
          </p:nvPr>
        </p:nvSpPr>
        <p:spPr>
          <a:xfrm>
            <a:off x="1484310" y="1817225"/>
            <a:ext cx="10018713" cy="2419109"/>
          </a:xfrm>
        </p:spPr>
        <p:txBody>
          <a:bodyPr>
            <a:noAutofit/>
          </a:bodyPr>
          <a:lstStyle/>
          <a:p>
            <a:pPr algn="just"/>
            <a:r>
              <a:rPr lang="vi-VN" sz="3200" b="1"/>
              <a:t>Mô hình phân cấp (Hierarchical model):</a:t>
            </a:r>
            <a:endParaRPr lang="vi-VN" sz="3200"/>
          </a:p>
          <a:p>
            <a:pPr lvl="1" algn="just"/>
            <a:r>
              <a:rPr lang="en-US" sz="2800"/>
              <a:t>Mô hình dữ liệu mức logic</a:t>
            </a:r>
          </a:p>
          <a:p>
            <a:pPr lvl="1" algn="just"/>
            <a:r>
              <a:rPr lang="vi-VN" sz="2800">
                <a:latin typeface="Corbel" panose="020B0503020204020204" pitchFamily="34" charset="0"/>
              </a:rPr>
              <a:t>Dữ liệu tổ chức theo dạng cây (cha – con).</a:t>
            </a:r>
          </a:p>
          <a:p>
            <a:pPr lvl="1" algn="just"/>
            <a:r>
              <a:rPr lang="vi-VN" sz="2800">
                <a:latin typeface="Corbel" panose="020B0503020204020204" pitchFamily="34" charset="0"/>
              </a:rPr>
              <a:t>Truy xuất theo đường dẫn từ gốc đến lá.</a:t>
            </a:r>
          </a:p>
        </p:txBody>
      </p:sp>
      <p:grpSp>
        <p:nvGrpSpPr>
          <p:cNvPr id="7" name="Group 6">
            <a:extLst>
              <a:ext uri="{FF2B5EF4-FFF2-40B4-BE49-F238E27FC236}">
                <a16:creationId xmlns:a16="http://schemas.microsoft.com/office/drawing/2014/main" id="{DFA4ECFF-CA12-BFFE-EB71-7C1A06B7139B}"/>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5C8B23EA-EA5B-9581-D64C-3172D9B6A9AB}"/>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03FC8943-B66C-0548-895A-55BAF5592018}"/>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13AF8A18-FC14-7EFA-574D-21D0148D7AF6}"/>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2" name="Picture 1">
            <a:extLst>
              <a:ext uri="{FF2B5EF4-FFF2-40B4-BE49-F238E27FC236}">
                <a16:creationId xmlns:a16="http://schemas.microsoft.com/office/drawing/2014/main" id="{58B79081-6E34-3F78-E003-8C8AABAEE72D}"/>
              </a:ext>
            </a:extLst>
          </p:cNvPr>
          <p:cNvPicPr>
            <a:picLocks noChangeAspect="1"/>
          </p:cNvPicPr>
          <p:nvPr/>
        </p:nvPicPr>
        <p:blipFill>
          <a:blip r:embed="rId2"/>
          <a:stretch>
            <a:fillRect/>
          </a:stretch>
        </p:blipFill>
        <p:spPr>
          <a:xfrm>
            <a:off x="4038547" y="4236334"/>
            <a:ext cx="4300638" cy="2419109"/>
          </a:xfrm>
          <a:prstGeom prst="rect">
            <a:avLst/>
          </a:prstGeom>
        </p:spPr>
      </p:pic>
    </p:spTree>
    <p:extLst>
      <p:ext uri="{BB962C8B-B14F-4D97-AF65-F5344CB8AC3E}">
        <p14:creationId xmlns:p14="http://schemas.microsoft.com/office/powerpoint/2010/main" val="2757457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A057A-D3DB-77FC-CD95-50EC23239E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ABB4E1-D0EB-F4E4-B747-41090DD47C5E}"/>
              </a:ext>
            </a:extLst>
          </p:cNvPr>
          <p:cNvSpPr>
            <a:spLocks noGrp="1"/>
          </p:cNvSpPr>
          <p:nvPr>
            <p:ph idx="1"/>
          </p:nvPr>
        </p:nvSpPr>
        <p:spPr>
          <a:xfrm>
            <a:off x="1484310" y="1493375"/>
            <a:ext cx="10018713" cy="2545225"/>
          </a:xfrm>
        </p:spPr>
        <p:txBody>
          <a:bodyPr>
            <a:noAutofit/>
          </a:bodyPr>
          <a:lstStyle/>
          <a:p>
            <a:pPr algn="just"/>
            <a:r>
              <a:rPr lang="vi-VN" sz="3200" b="1"/>
              <a:t>Mô hình mạng (Network model):</a:t>
            </a:r>
            <a:endParaRPr lang="vi-VN" sz="3200"/>
          </a:p>
          <a:p>
            <a:pPr lvl="1" algn="just"/>
            <a:r>
              <a:rPr lang="en-US" sz="2800"/>
              <a:t>Mô hình dữ liệu mức logic</a:t>
            </a:r>
          </a:p>
          <a:p>
            <a:pPr lvl="1" algn="just"/>
            <a:r>
              <a:rPr lang="vi-VN" sz="2800">
                <a:latin typeface="Corbel" panose="020B0503020204020204" pitchFamily="34" charset="0"/>
              </a:rPr>
              <a:t>Dữ liệu tổ chức theo dạng lưới, có nhiều mối quan hệ phức tạp.</a:t>
            </a:r>
          </a:p>
          <a:p>
            <a:pPr lvl="1" algn="just"/>
            <a:r>
              <a:rPr lang="vi-VN" sz="2800">
                <a:latin typeface="Corbel" panose="020B0503020204020204" pitchFamily="34" charset="0"/>
              </a:rPr>
              <a:t>Truy xuất bằng cách duyệt qua các liên kết</a:t>
            </a:r>
            <a:r>
              <a:rPr lang="vi-VN" sz="2800"/>
              <a:t>.</a:t>
            </a:r>
          </a:p>
        </p:txBody>
      </p:sp>
      <p:grpSp>
        <p:nvGrpSpPr>
          <p:cNvPr id="7" name="Group 6">
            <a:extLst>
              <a:ext uri="{FF2B5EF4-FFF2-40B4-BE49-F238E27FC236}">
                <a16:creationId xmlns:a16="http://schemas.microsoft.com/office/drawing/2014/main" id="{93BA7B82-A47F-EF06-85F8-601E6FFFEBC2}"/>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036322DB-4800-1254-7FF7-881BD6B5F106}"/>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A06C2327-149F-6316-93C3-9FDC2DCAEFCC}"/>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E0B6D648-F9AF-B095-0A44-90603AB1AE9D}"/>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 name="AutoShape 2" descr="PPT - Hierarchical Database model PowerPoint Presentation, free ...">
            <a:extLst>
              <a:ext uri="{FF2B5EF4-FFF2-40B4-BE49-F238E27FC236}">
                <a16:creationId xmlns:a16="http://schemas.microsoft.com/office/drawing/2014/main" id="{45539DF1-D0C5-35B7-7BEE-67D7DFD6AA7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E1B965DD-06E1-8CAA-C6EE-AA77D811D0E6}"/>
              </a:ext>
            </a:extLst>
          </p:cNvPr>
          <p:cNvPicPr>
            <a:picLocks noChangeAspect="1"/>
          </p:cNvPicPr>
          <p:nvPr/>
        </p:nvPicPr>
        <p:blipFill>
          <a:blip r:embed="rId2"/>
          <a:stretch>
            <a:fillRect/>
          </a:stretch>
        </p:blipFill>
        <p:spPr>
          <a:xfrm>
            <a:off x="4076700" y="4303957"/>
            <a:ext cx="3733800" cy="2270369"/>
          </a:xfrm>
          <a:prstGeom prst="rect">
            <a:avLst/>
          </a:prstGeom>
        </p:spPr>
      </p:pic>
    </p:spTree>
    <p:extLst>
      <p:ext uri="{BB962C8B-B14F-4D97-AF65-F5344CB8AC3E}">
        <p14:creationId xmlns:p14="http://schemas.microsoft.com/office/powerpoint/2010/main" val="1283677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FED24-A9EF-5C88-67DD-A9658E3257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4E8AA1-5283-A9AB-3A0A-7FF3BE3F7979}"/>
              </a:ext>
            </a:extLst>
          </p:cNvPr>
          <p:cNvSpPr>
            <a:spLocks noGrp="1"/>
          </p:cNvSpPr>
          <p:nvPr>
            <p:ph idx="1"/>
          </p:nvPr>
        </p:nvSpPr>
        <p:spPr>
          <a:xfrm>
            <a:off x="1417635" y="1521950"/>
            <a:ext cx="10018713" cy="2964326"/>
          </a:xfrm>
        </p:spPr>
        <p:txBody>
          <a:bodyPr>
            <a:noAutofit/>
          </a:bodyPr>
          <a:lstStyle/>
          <a:p>
            <a:pPr algn="just"/>
            <a:r>
              <a:rPr lang="en-US" sz="3200" b="1">
                <a:latin typeface="Arial" panose="020B0604020202020204" pitchFamily="34" charset="0"/>
                <a:cs typeface="Arial" panose="020B0604020202020204" pitchFamily="34" charset="0"/>
              </a:rPr>
              <a:t>Mô hình quan hệ (Relational model):</a:t>
            </a:r>
            <a:endParaRPr lang="en-US" sz="3200">
              <a:latin typeface="Arial" panose="020B0604020202020204" pitchFamily="34" charset="0"/>
              <a:cs typeface="Arial" panose="020B0604020202020204" pitchFamily="34" charset="0"/>
            </a:endParaRPr>
          </a:p>
          <a:p>
            <a:pPr lvl="1" algn="just"/>
            <a:r>
              <a:rPr lang="en-US" sz="2800">
                <a:latin typeface="+mj-lt"/>
                <a:cs typeface="Arial" panose="020B0604020202020204" pitchFamily="34" charset="0"/>
              </a:rPr>
              <a:t>Mô hình dữ liệu mức logic</a:t>
            </a:r>
          </a:p>
          <a:p>
            <a:pPr lvl="1" algn="just"/>
            <a:r>
              <a:rPr lang="en-US" sz="2800">
                <a:latin typeface="+mj-lt"/>
                <a:cs typeface="Arial" panose="020B0604020202020204" pitchFamily="34" charset="0"/>
              </a:rPr>
              <a:t>Dữ liệu tổ chức thành bảng (hàng – cột).</a:t>
            </a:r>
          </a:p>
          <a:p>
            <a:pPr lvl="1" algn="just"/>
            <a:r>
              <a:rPr lang="en-US" sz="2800">
                <a:latin typeface="+mj-lt"/>
                <a:cs typeface="Arial" panose="020B0604020202020204" pitchFamily="34" charset="0"/>
              </a:rPr>
              <a:t>Truy xuất bằng ngôn ngữ SQL (SELECT, INSERT, UPDATE…).</a:t>
            </a:r>
          </a:p>
          <a:p>
            <a:pPr lvl="1" algn="just"/>
            <a:r>
              <a:rPr lang="en-US" sz="2800">
                <a:latin typeface="+mj-lt"/>
                <a:cs typeface="Arial" panose="020B0604020202020204" pitchFamily="34" charset="0"/>
              </a:rPr>
              <a:t>Đây là mô hình phổ biến nhất hiện nay.</a:t>
            </a:r>
          </a:p>
        </p:txBody>
      </p:sp>
      <p:grpSp>
        <p:nvGrpSpPr>
          <p:cNvPr id="7" name="Group 6">
            <a:extLst>
              <a:ext uri="{FF2B5EF4-FFF2-40B4-BE49-F238E27FC236}">
                <a16:creationId xmlns:a16="http://schemas.microsoft.com/office/drawing/2014/main" id="{8300060D-82E2-AE2F-2117-50DD9D9B378D}"/>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AE38A7C3-E6A1-AA59-EA32-5A4DA409A210}"/>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E766605A-A212-0A7D-C51F-4E407318F75E}"/>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8DEC25E3-6EFB-0268-FF99-32739076DD55}"/>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2" name="Picture 1">
            <a:extLst>
              <a:ext uri="{FF2B5EF4-FFF2-40B4-BE49-F238E27FC236}">
                <a16:creationId xmlns:a16="http://schemas.microsoft.com/office/drawing/2014/main" id="{C015931C-03F7-F86F-8F22-CA422FE2BE49}"/>
              </a:ext>
            </a:extLst>
          </p:cNvPr>
          <p:cNvPicPr>
            <a:picLocks noChangeAspect="1"/>
          </p:cNvPicPr>
          <p:nvPr/>
        </p:nvPicPr>
        <p:blipFill>
          <a:blip r:embed="rId2"/>
          <a:srcRect l="11406" t="17777" r="11302" b="16390"/>
          <a:stretch>
            <a:fillRect/>
          </a:stretch>
        </p:blipFill>
        <p:spPr>
          <a:xfrm>
            <a:off x="4171949" y="4486276"/>
            <a:ext cx="4711699" cy="2257425"/>
          </a:xfrm>
          <a:prstGeom prst="rect">
            <a:avLst/>
          </a:prstGeom>
        </p:spPr>
      </p:pic>
    </p:spTree>
    <p:extLst>
      <p:ext uri="{BB962C8B-B14F-4D97-AF65-F5344CB8AC3E}">
        <p14:creationId xmlns:p14="http://schemas.microsoft.com/office/powerpoint/2010/main" val="1285367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B5BC0-95CA-754A-ADF8-211FDCE342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E95EE5-26F4-E33A-A382-ED04047DB856}"/>
              </a:ext>
            </a:extLst>
          </p:cNvPr>
          <p:cNvSpPr>
            <a:spLocks noGrp="1"/>
          </p:cNvSpPr>
          <p:nvPr>
            <p:ph idx="1"/>
          </p:nvPr>
        </p:nvSpPr>
        <p:spPr>
          <a:xfrm>
            <a:off x="1484310" y="1360232"/>
            <a:ext cx="10018713" cy="2335675"/>
          </a:xfrm>
        </p:spPr>
        <p:txBody>
          <a:bodyPr>
            <a:noAutofit/>
          </a:bodyPr>
          <a:lstStyle/>
          <a:p>
            <a:pPr algn="just"/>
            <a:r>
              <a:rPr lang="vi-VN" sz="2800" b="1"/>
              <a:t>Mô hình hướng đối tượng (Object-oriented model):</a:t>
            </a:r>
            <a:endParaRPr lang="vi-VN" sz="2800"/>
          </a:p>
          <a:p>
            <a:pPr lvl="1" algn="just"/>
            <a:r>
              <a:rPr lang="en-US" sz="2400"/>
              <a:t>Mô hình dữ liệu mức logic</a:t>
            </a:r>
          </a:p>
          <a:p>
            <a:pPr lvl="1" algn="just"/>
            <a:r>
              <a:rPr lang="vi-VN" sz="2400">
                <a:latin typeface="Corbel" panose="020B0503020204020204" pitchFamily="34" charset="0"/>
              </a:rPr>
              <a:t>Dữ liệu biểu diễn dưới dạng đối tượng, kết hợp dữ liệu và phương thức.</a:t>
            </a:r>
          </a:p>
          <a:p>
            <a:pPr lvl="1" algn="just"/>
            <a:r>
              <a:rPr lang="vi-VN" sz="2400">
                <a:latin typeface="Corbel" panose="020B0503020204020204" pitchFamily="34" charset="0"/>
              </a:rPr>
              <a:t>Phù hợp với các ứng dụng phức tạp, đa phương tiện.</a:t>
            </a:r>
          </a:p>
        </p:txBody>
      </p:sp>
      <p:grpSp>
        <p:nvGrpSpPr>
          <p:cNvPr id="7" name="Group 6">
            <a:extLst>
              <a:ext uri="{FF2B5EF4-FFF2-40B4-BE49-F238E27FC236}">
                <a16:creationId xmlns:a16="http://schemas.microsoft.com/office/drawing/2014/main" id="{61DA6CCA-5E7D-CFD2-49C7-D083600B1EB5}"/>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1C7DC8D6-702C-D79C-9ED6-6D1B99902A85}"/>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34C2FBFB-C376-F18F-FE54-8F88B900BA92}"/>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3ED98B12-2F98-0E1C-F87D-C80ED5F2B06D}"/>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4" name="Picture 3">
            <a:extLst>
              <a:ext uri="{FF2B5EF4-FFF2-40B4-BE49-F238E27FC236}">
                <a16:creationId xmlns:a16="http://schemas.microsoft.com/office/drawing/2014/main" id="{B4CDFF9F-8D0B-6A8D-D5FD-99E39AAF30A8}"/>
              </a:ext>
            </a:extLst>
          </p:cNvPr>
          <p:cNvPicPr>
            <a:picLocks noChangeAspect="1"/>
          </p:cNvPicPr>
          <p:nvPr/>
        </p:nvPicPr>
        <p:blipFill>
          <a:blip r:embed="rId2"/>
          <a:stretch>
            <a:fillRect/>
          </a:stretch>
        </p:blipFill>
        <p:spPr>
          <a:xfrm>
            <a:off x="3467100" y="3544876"/>
            <a:ext cx="4181475" cy="3153663"/>
          </a:xfrm>
          <a:prstGeom prst="rect">
            <a:avLst/>
          </a:prstGeom>
        </p:spPr>
      </p:pic>
    </p:spTree>
    <p:extLst>
      <p:ext uri="{BB962C8B-B14F-4D97-AF65-F5344CB8AC3E}">
        <p14:creationId xmlns:p14="http://schemas.microsoft.com/office/powerpoint/2010/main" val="30613160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F46C1-9496-F44D-1B2D-CF705B8DAE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DF0F07-32C4-3598-B8C2-792629FD9AD9}"/>
              </a:ext>
            </a:extLst>
          </p:cNvPr>
          <p:cNvSpPr>
            <a:spLocks noGrp="1"/>
          </p:cNvSpPr>
          <p:nvPr>
            <p:ph idx="1"/>
          </p:nvPr>
        </p:nvSpPr>
        <p:spPr>
          <a:xfrm>
            <a:off x="1484310" y="1598150"/>
            <a:ext cx="10018713" cy="2678575"/>
          </a:xfrm>
        </p:spPr>
        <p:txBody>
          <a:bodyPr>
            <a:noAutofit/>
          </a:bodyPr>
          <a:lstStyle/>
          <a:p>
            <a:pPr algn="just"/>
            <a:r>
              <a:rPr lang="vi-VN" sz="3200" b="1"/>
              <a:t>Mô hình NoSQL (phi quan hệ):</a:t>
            </a:r>
            <a:endParaRPr lang="vi-VN" sz="3200"/>
          </a:p>
          <a:p>
            <a:pPr lvl="1" algn="just"/>
            <a:r>
              <a:rPr lang="en-US" sz="2800">
                <a:latin typeface="Corbel" panose="020B0503020204020204" pitchFamily="34" charset="0"/>
              </a:rPr>
              <a:t>Mô hình dữ liệu mức logic</a:t>
            </a:r>
          </a:p>
          <a:p>
            <a:pPr lvl="1" algn="just"/>
            <a:r>
              <a:rPr lang="vi-VN" sz="2800">
                <a:latin typeface="Corbel" panose="020B0503020204020204" pitchFamily="34" charset="0"/>
              </a:rPr>
              <a:t>Dữ liệu lưu dưới dạng tài liệu, cặp khóa – giá trị, hoặc đồ thị.</a:t>
            </a:r>
          </a:p>
          <a:p>
            <a:pPr lvl="1" algn="just"/>
            <a:r>
              <a:rPr lang="vi-VN" sz="2800">
                <a:latin typeface="Corbel" panose="020B0503020204020204" pitchFamily="34" charset="0"/>
              </a:rPr>
              <a:t>Truy xuất linh hoạt, thích hợp cho dữ liệu lớn và ứng dụng web hiện đại.</a:t>
            </a:r>
          </a:p>
        </p:txBody>
      </p:sp>
      <p:grpSp>
        <p:nvGrpSpPr>
          <p:cNvPr id="7" name="Group 6">
            <a:extLst>
              <a:ext uri="{FF2B5EF4-FFF2-40B4-BE49-F238E27FC236}">
                <a16:creationId xmlns:a16="http://schemas.microsoft.com/office/drawing/2014/main" id="{9B947643-89A6-9F5E-A73B-2D9B4434C50D}"/>
              </a:ext>
            </a:extLst>
          </p:cNvPr>
          <p:cNvGrpSpPr/>
          <p:nvPr/>
        </p:nvGrpSpPr>
        <p:grpSpPr>
          <a:xfrm>
            <a:off x="1920209" y="699166"/>
            <a:ext cx="9582814" cy="528852"/>
            <a:chOff x="390603" y="264288"/>
            <a:chExt cx="9582814" cy="528852"/>
          </a:xfrm>
        </p:grpSpPr>
        <p:sp>
          <p:nvSpPr>
            <p:cNvPr id="9" name="Rectangle 8">
              <a:extLst>
                <a:ext uri="{FF2B5EF4-FFF2-40B4-BE49-F238E27FC236}">
                  <a16:creationId xmlns:a16="http://schemas.microsoft.com/office/drawing/2014/main" id="{83C8514C-2CAF-B553-ED79-17A9E4E36263}"/>
                </a:ext>
              </a:extLst>
            </p:cNvPr>
            <p:cNvSpPr/>
            <p:nvPr/>
          </p:nvSpPr>
          <p:spPr>
            <a:xfrm>
              <a:off x="390603" y="264288"/>
              <a:ext cx="9582814" cy="528852"/>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0" name="TextBox 9">
              <a:extLst>
                <a:ext uri="{FF2B5EF4-FFF2-40B4-BE49-F238E27FC236}">
                  <a16:creationId xmlns:a16="http://schemas.microsoft.com/office/drawing/2014/main" id="{941D5190-1B68-F736-7D2C-9F4EAFD66816}"/>
                </a:ext>
              </a:extLst>
            </p:cNvPr>
            <p:cNvSpPr txBox="1"/>
            <p:nvPr/>
          </p:nvSpPr>
          <p:spPr>
            <a:xfrm>
              <a:off x="390603" y="264288"/>
              <a:ext cx="9582814" cy="52885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4000" b="1"/>
                <a:t>Các mô hình biểu diễn CSDL</a:t>
              </a:r>
              <a:endParaRPr lang="en-US" sz="4000" b="1" kern="1200"/>
            </a:p>
          </p:txBody>
        </p:sp>
      </p:grpSp>
      <p:sp>
        <p:nvSpPr>
          <p:cNvPr id="8" name="Oval 7">
            <a:extLst>
              <a:ext uri="{FF2B5EF4-FFF2-40B4-BE49-F238E27FC236}">
                <a16:creationId xmlns:a16="http://schemas.microsoft.com/office/drawing/2014/main" id="{36C69EFC-C01D-C052-F970-2554E28ED67F}"/>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pic>
        <p:nvPicPr>
          <p:cNvPr id="2" name="Picture 1">
            <a:extLst>
              <a:ext uri="{FF2B5EF4-FFF2-40B4-BE49-F238E27FC236}">
                <a16:creationId xmlns:a16="http://schemas.microsoft.com/office/drawing/2014/main" id="{86E4BE30-A59C-7D35-6DD5-A1EBCE78651F}"/>
              </a:ext>
            </a:extLst>
          </p:cNvPr>
          <p:cNvPicPr>
            <a:picLocks noChangeAspect="1"/>
          </p:cNvPicPr>
          <p:nvPr/>
        </p:nvPicPr>
        <p:blipFill>
          <a:blip r:embed="rId2"/>
          <a:stretch>
            <a:fillRect/>
          </a:stretch>
        </p:blipFill>
        <p:spPr>
          <a:xfrm>
            <a:off x="5629275" y="3961474"/>
            <a:ext cx="4800600" cy="2700338"/>
          </a:xfrm>
          <a:prstGeom prst="rect">
            <a:avLst/>
          </a:prstGeom>
        </p:spPr>
      </p:pic>
    </p:spTree>
    <p:extLst>
      <p:ext uri="{BB962C8B-B14F-4D97-AF65-F5344CB8AC3E}">
        <p14:creationId xmlns:p14="http://schemas.microsoft.com/office/powerpoint/2010/main" val="3110445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AFEF9-49A5-0E63-5068-6087E1E6FC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460D1C-54C9-8DBC-1C87-60E5EC295DAC}"/>
              </a:ext>
            </a:extLst>
          </p:cNvPr>
          <p:cNvSpPr>
            <a:spLocks noGrp="1"/>
          </p:cNvSpPr>
          <p:nvPr>
            <p:ph idx="1"/>
          </p:nvPr>
        </p:nvSpPr>
        <p:spPr>
          <a:xfrm>
            <a:off x="1484310" y="1817225"/>
            <a:ext cx="10018713" cy="4664598"/>
          </a:xfrm>
        </p:spPr>
        <p:txBody>
          <a:bodyPr>
            <a:noAutofit/>
          </a:bodyPr>
          <a:lstStyle/>
          <a:p>
            <a:pPr marL="0" indent="0">
              <a:buNone/>
            </a:pPr>
            <a:r>
              <a:rPr lang="en-US" sz="2800" b="1"/>
              <a:t>📌 </a:t>
            </a:r>
            <a:r>
              <a:rPr lang="vi-VN" sz="2800" b="1"/>
              <a:t>Truy xuất dữ liệu</a:t>
            </a:r>
          </a:p>
          <a:p>
            <a:r>
              <a:rPr lang="vi-VN" sz="2800">
                <a:latin typeface="Corbel" panose="020B0503020204020204" pitchFamily="34" charset="0"/>
              </a:rPr>
              <a:t>Là </a:t>
            </a:r>
            <a:r>
              <a:rPr lang="vi-VN" sz="2800" b="1" i="1">
                <a:solidFill>
                  <a:srgbClr val="FF0000"/>
                </a:solidFill>
                <a:latin typeface="Corbel" panose="020B0503020204020204" pitchFamily="34" charset="0"/>
              </a:rPr>
              <a:t>cách lấy dữ liệu ra từ CSDL</a:t>
            </a:r>
            <a:r>
              <a:rPr lang="vi-VN" sz="2800" i="1">
                <a:solidFill>
                  <a:srgbClr val="FF0000"/>
                </a:solidFill>
                <a:latin typeface="Corbel" panose="020B0503020204020204" pitchFamily="34" charset="0"/>
              </a:rPr>
              <a:t> </a:t>
            </a:r>
            <a:r>
              <a:rPr lang="vi-VN" sz="2800">
                <a:latin typeface="Corbel" panose="020B0503020204020204" pitchFamily="34" charset="0"/>
              </a:rPr>
              <a:t>để phục vụ nhu cầu người dùng.</a:t>
            </a:r>
          </a:p>
          <a:p>
            <a:r>
              <a:rPr lang="vi-VN" sz="2800">
                <a:latin typeface="Corbel" panose="020B0503020204020204" pitchFamily="34" charset="0"/>
              </a:rPr>
              <a:t>Thường thông qua </a:t>
            </a:r>
            <a:r>
              <a:rPr lang="vi-VN" sz="2800" b="1" i="1">
                <a:solidFill>
                  <a:srgbClr val="FF0000"/>
                </a:solidFill>
                <a:latin typeface="Corbel" panose="020B0503020204020204" pitchFamily="34" charset="0"/>
              </a:rPr>
              <a:t>ngôn ngữ truy vấn</a:t>
            </a:r>
            <a:r>
              <a:rPr lang="vi-VN" sz="2800" i="1">
                <a:solidFill>
                  <a:srgbClr val="FF0000"/>
                </a:solidFill>
                <a:latin typeface="Corbel" panose="020B0503020204020204" pitchFamily="34" charset="0"/>
              </a:rPr>
              <a:t> </a:t>
            </a:r>
            <a:r>
              <a:rPr lang="vi-VN" sz="2800">
                <a:latin typeface="Corbel" panose="020B0503020204020204" pitchFamily="34" charset="0"/>
              </a:rPr>
              <a:t>(như SQL).</a:t>
            </a:r>
          </a:p>
          <a:p>
            <a:r>
              <a:rPr lang="vi-VN" sz="2800">
                <a:latin typeface="Corbel" panose="020B0503020204020204" pitchFamily="34" charset="0"/>
              </a:rPr>
              <a:t>Cho phép thực hiện các thao tác:</a:t>
            </a:r>
          </a:p>
          <a:p>
            <a:pPr lvl="1"/>
            <a:r>
              <a:rPr lang="vi-VN" sz="2400" b="1">
                <a:latin typeface="Corbel" panose="020B0503020204020204" pitchFamily="34" charset="0"/>
              </a:rPr>
              <a:t>SELECT:</a:t>
            </a:r>
            <a:r>
              <a:rPr lang="vi-VN" sz="2400">
                <a:latin typeface="Corbel" panose="020B0503020204020204" pitchFamily="34" charset="0"/>
              </a:rPr>
              <a:t> lấy dữ liệu cần xem</a:t>
            </a:r>
          </a:p>
          <a:p>
            <a:pPr lvl="1"/>
            <a:r>
              <a:rPr lang="vi-VN" sz="2400" b="1">
                <a:latin typeface="Corbel" panose="020B0503020204020204" pitchFamily="34" charset="0"/>
              </a:rPr>
              <a:t>INSERT:</a:t>
            </a:r>
            <a:r>
              <a:rPr lang="vi-VN" sz="2400">
                <a:latin typeface="Corbel" panose="020B0503020204020204" pitchFamily="34" charset="0"/>
              </a:rPr>
              <a:t> thêm dữ liệu mới</a:t>
            </a:r>
          </a:p>
          <a:p>
            <a:pPr lvl="1"/>
            <a:r>
              <a:rPr lang="vi-VN" sz="2400" b="1">
                <a:latin typeface="Corbel" panose="020B0503020204020204" pitchFamily="34" charset="0"/>
              </a:rPr>
              <a:t>UPDATE:</a:t>
            </a:r>
            <a:r>
              <a:rPr lang="vi-VN" sz="2400">
                <a:latin typeface="Corbel" panose="020B0503020204020204" pitchFamily="34" charset="0"/>
              </a:rPr>
              <a:t> sửa dữ liệu</a:t>
            </a:r>
          </a:p>
          <a:p>
            <a:pPr lvl="1"/>
            <a:r>
              <a:rPr lang="vi-VN" sz="2400" b="1">
                <a:latin typeface="Corbel" panose="020B0503020204020204" pitchFamily="34" charset="0"/>
              </a:rPr>
              <a:t>DELETE:</a:t>
            </a:r>
            <a:r>
              <a:rPr lang="vi-VN" sz="2400">
                <a:latin typeface="Corbel" panose="020B0503020204020204" pitchFamily="34" charset="0"/>
              </a:rPr>
              <a:t> xóa dữ liệu</a:t>
            </a:r>
          </a:p>
        </p:txBody>
      </p:sp>
      <p:grpSp>
        <p:nvGrpSpPr>
          <p:cNvPr id="2" name="Group 1">
            <a:extLst>
              <a:ext uri="{FF2B5EF4-FFF2-40B4-BE49-F238E27FC236}">
                <a16:creationId xmlns:a16="http://schemas.microsoft.com/office/drawing/2014/main" id="{CBDD94FE-558C-623C-672B-917FC664B4C5}"/>
              </a:ext>
            </a:extLst>
          </p:cNvPr>
          <p:cNvGrpSpPr/>
          <p:nvPr/>
        </p:nvGrpSpPr>
        <p:grpSpPr>
          <a:xfrm>
            <a:off x="1589676" y="633060"/>
            <a:ext cx="9792699" cy="727172"/>
            <a:chOff x="1589676" y="633060"/>
            <a:chExt cx="9792699" cy="727172"/>
          </a:xfrm>
        </p:grpSpPr>
        <p:grpSp>
          <p:nvGrpSpPr>
            <p:cNvPr id="4" name="Group 3">
              <a:extLst>
                <a:ext uri="{FF2B5EF4-FFF2-40B4-BE49-F238E27FC236}">
                  <a16:creationId xmlns:a16="http://schemas.microsoft.com/office/drawing/2014/main" id="{10D970A5-C405-E7F8-11F9-C8E9FB0601BA}"/>
                </a:ext>
              </a:extLst>
            </p:cNvPr>
            <p:cNvGrpSpPr/>
            <p:nvPr/>
          </p:nvGrpSpPr>
          <p:grpSpPr>
            <a:xfrm>
              <a:off x="1920209" y="699166"/>
              <a:ext cx="9462166" cy="661066"/>
              <a:chOff x="390603" y="264288"/>
              <a:chExt cx="9582814" cy="661066"/>
            </a:xfrm>
          </p:grpSpPr>
          <p:sp>
            <p:nvSpPr>
              <p:cNvPr id="6" name="Rectangle 5">
                <a:extLst>
                  <a:ext uri="{FF2B5EF4-FFF2-40B4-BE49-F238E27FC236}">
                    <a16:creationId xmlns:a16="http://schemas.microsoft.com/office/drawing/2014/main" id="{3E1B6A4B-3CB3-5F28-B4A1-7B28CD9FD73B}"/>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1C0BDC41-2875-D48B-AAB5-DB63056EFEB5}"/>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Các mô hình biểu diễn và truy xuất dữ liệu</a:t>
                </a:r>
                <a:endParaRPr lang="en-US" sz="3600" b="1" kern="1200"/>
              </a:p>
            </p:txBody>
          </p:sp>
        </p:grpSp>
        <p:sp>
          <p:nvSpPr>
            <p:cNvPr id="5" name="Oval 4">
              <a:extLst>
                <a:ext uri="{FF2B5EF4-FFF2-40B4-BE49-F238E27FC236}">
                  <a16:creationId xmlns:a16="http://schemas.microsoft.com/office/drawing/2014/main" id="{DBF64D39-7EBB-18FD-84BD-5A96874F6260}"/>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115155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B7836-2244-7454-2683-7D9091C19E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6E541B-A991-662E-5B59-4DFD56ACCA21}"/>
              </a:ext>
            </a:extLst>
          </p:cNvPr>
          <p:cNvSpPr>
            <a:spLocks noGrp="1"/>
          </p:cNvSpPr>
          <p:nvPr>
            <p:ph idx="1"/>
          </p:nvPr>
        </p:nvSpPr>
        <p:spPr>
          <a:xfrm>
            <a:off x="1484310" y="1817225"/>
            <a:ext cx="10018713" cy="2916700"/>
          </a:xfrm>
        </p:spPr>
        <p:txBody>
          <a:bodyPr>
            <a:noAutofit/>
          </a:bodyPr>
          <a:lstStyle/>
          <a:p>
            <a:pPr marL="0" indent="0">
              <a:buNone/>
            </a:pPr>
            <a:r>
              <a:rPr lang="en-US" sz="2800" b="1"/>
              <a:t>📌 </a:t>
            </a:r>
            <a:r>
              <a:rPr lang="en-US" sz="3000" b="1"/>
              <a:t>Lược đồ cơ sở dữ liệu (database schema)</a:t>
            </a:r>
            <a:endParaRPr lang="vi-VN" sz="3000" b="1"/>
          </a:p>
          <a:p>
            <a:r>
              <a:rPr lang="en-US" sz="2800"/>
              <a:t>Mô tả của một cơ sở dữ liệu được gọi là </a:t>
            </a:r>
            <a:r>
              <a:rPr lang="en-US" sz="2800" i="1"/>
              <a:t>lược đồ cơ sở dữ liệu</a:t>
            </a:r>
          </a:p>
          <a:p>
            <a:r>
              <a:rPr lang="en-US" sz="2800"/>
              <a:t>Được xác định rõ trong quá trình thiết kế cơ sở dữ liệu và không bị thay đổi thường xuyên</a:t>
            </a:r>
            <a:endParaRPr lang="vi-VN" sz="2800"/>
          </a:p>
        </p:txBody>
      </p:sp>
      <p:grpSp>
        <p:nvGrpSpPr>
          <p:cNvPr id="2" name="Group 1">
            <a:extLst>
              <a:ext uri="{FF2B5EF4-FFF2-40B4-BE49-F238E27FC236}">
                <a16:creationId xmlns:a16="http://schemas.microsoft.com/office/drawing/2014/main" id="{EFB05A25-C8AC-042A-30C9-AB72F6C51522}"/>
              </a:ext>
            </a:extLst>
          </p:cNvPr>
          <p:cNvGrpSpPr/>
          <p:nvPr/>
        </p:nvGrpSpPr>
        <p:grpSpPr>
          <a:xfrm>
            <a:off x="1589676" y="633060"/>
            <a:ext cx="9792699" cy="727172"/>
            <a:chOff x="1589676" y="633060"/>
            <a:chExt cx="9792699" cy="727172"/>
          </a:xfrm>
        </p:grpSpPr>
        <p:grpSp>
          <p:nvGrpSpPr>
            <p:cNvPr id="4" name="Group 3">
              <a:extLst>
                <a:ext uri="{FF2B5EF4-FFF2-40B4-BE49-F238E27FC236}">
                  <a16:creationId xmlns:a16="http://schemas.microsoft.com/office/drawing/2014/main" id="{12301C81-BFE3-F9AA-6341-8307F416AF7B}"/>
                </a:ext>
              </a:extLst>
            </p:cNvPr>
            <p:cNvGrpSpPr/>
            <p:nvPr/>
          </p:nvGrpSpPr>
          <p:grpSpPr>
            <a:xfrm>
              <a:off x="1920209" y="699166"/>
              <a:ext cx="9462166" cy="661066"/>
              <a:chOff x="390603" y="264288"/>
              <a:chExt cx="9582814" cy="661066"/>
            </a:xfrm>
          </p:grpSpPr>
          <p:sp>
            <p:nvSpPr>
              <p:cNvPr id="6" name="Rectangle 5">
                <a:extLst>
                  <a:ext uri="{FF2B5EF4-FFF2-40B4-BE49-F238E27FC236}">
                    <a16:creationId xmlns:a16="http://schemas.microsoft.com/office/drawing/2014/main" id="{3B92A02E-F3EA-EAC0-7856-717F7B48BCE9}"/>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5EE47BD1-D62D-74E1-B74F-A13011270AA8}"/>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Lược đồ và trạng thái cơ sở dữ liệu</a:t>
                </a:r>
                <a:endParaRPr lang="en-US" sz="3600" b="1" kern="1200"/>
              </a:p>
            </p:txBody>
          </p:sp>
        </p:grpSp>
        <p:sp>
          <p:nvSpPr>
            <p:cNvPr id="5" name="Oval 4">
              <a:extLst>
                <a:ext uri="{FF2B5EF4-FFF2-40B4-BE49-F238E27FC236}">
                  <a16:creationId xmlns:a16="http://schemas.microsoft.com/office/drawing/2014/main" id="{4F5632CF-A9EC-121D-03EA-F4FAF7DF1EB4}"/>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11623959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0CFEB-1860-6AF9-ECDD-8C3DEC5E225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775F26-50C0-331D-8BEA-47A15E65E6AF}"/>
              </a:ext>
            </a:extLst>
          </p:cNvPr>
          <p:cNvSpPr>
            <a:spLocks noGrp="1"/>
          </p:cNvSpPr>
          <p:nvPr>
            <p:ph idx="1"/>
          </p:nvPr>
        </p:nvSpPr>
        <p:spPr>
          <a:xfrm>
            <a:off x="1484310" y="1817224"/>
            <a:ext cx="10018713" cy="4189563"/>
          </a:xfrm>
        </p:spPr>
        <p:txBody>
          <a:bodyPr>
            <a:noAutofit/>
          </a:bodyPr>
          <a:lstStyle/>
          <a:p>
            <a:pPr marL="0" indent="0">
              <a:buNone/>
            </a:pPr>
            <a:r>
              <a:rPr lang="en-US" sz="2800" b="1"/>
              <a:t>📌 </a:t>
            </a:r>
            <a:r>
              <a:rPr lang="en-US" sz="3000" b="1"/>
              <a:t>Trạng thái cơ sở dữ liệu (database instance)</a:t>
            </a:r>
            <a:endParaRPr lang="vi-VN" sz="3000" b="1"/>
          </a:p>
          <a:p>
            <a:pPr algn="just"/>
            <a:r>
              <a:rPr lang="en-US" sz="2800"/>
              <a:t>Các dữ liệu trong một cơ sở dữ liệu tại một thời điểm cụ thể được gọi là một </a:t>
            </a:r>
            <a:r>
              <a:rPr lang="en-US" sz="2800" i="1"/>
              <a:t>trạng thái cơ sở dữ liệu </a:t>
            </a:r>
            <a:r>
              <a:rPr lang="en-US" sz="2800"/>
              <a:t>hoặc là ảnh (snapshot) của cơ sở dữ liệu.</a:t>
            </a:r>
          </a:p>
          <a:p>
            <a:pPr algn="just"/>
            <a:r>
              <a:rPr lang="en-US" sz="2800"/>
              <a:t>Mỗi khi chúng ta chèn vào hoặc loại bỏ một bản ghi, sửa đổi giá trị của một mục dữ liệu trong một bản ghi, chúng ta đã làm thay đổi trạng thái của cơ sở dữ liệu sang một trạng thái khác.</a:t>
            </a:r>
          </a:p>
        </p:txBody>
      </p:sp>
      <p:grpSp>
        <p:nvGrpSpPr>
          <p:cNvPr id="2" name="Group 1">
            <a:extLst>
              <a:ext uri="{FF2B5EF4-FFF2-40B4-BE49-F238E27FC236}">
                <a16:creationId xmlns:a16="http://schemas.microsoft.com/office/drawing/2014/main" id="{1BAFF3E3-4C41-6F54-2F37-DBE09F1FC638}"/>
              </a:ext>
            </a:extLst>
          </p:cNvPr>
          <p:cNvGrpSpPr/>
          <p:nvPr/>
        </p:nvGrpSpPr>
        <p:grpSpPr>
          <a:xfrm>
            <a:off x="1589676" y="633060"/>
            <a:ext cx="9792699" cy="727172"/>
            <a:chOff x="1589676" y="633060"/>
            <a:chExt cx="9792699" cy="727172"/>
          </a:xfrm>
        </p:grpSpPr>
        <p:grpSp>
          <p:nvGrpSpPr>
            <p:cNvPr id="4" name="Group 3">
              <a:extLst>
                <a:ext uri="{FF2B5EF4-FFF2-40B4-BE49-F238E27FC236}">
                  <a16:creationId xmlns:a16="http://schemas.microsoft.com/office/drawing/2014/main" id="{8E252F3E-E775-B859-4A6E-7C3181B57069}"/>
                </a:ext>
              </a:extLst>
            </p:cNvPr>
            <p:cNvGrpSpPr/>
            <p:nvPr/>
          </p:nvGrpSpPr>
          <p:grpSpPr>
            <a:xfrm>
              <a:off x="1920209" y="699166"/>
              <a:ext cx="9462166" cy="661066"/>
              <a:chOff x="390603" y="264288"/>
              <a:chExt cx="9582814" cy="661066"/>
            </a:xfrm>
          </p:grpSpPr>
          <p:sp>
            <p:nvSpPr>
              <p:cNvPr id="6" name="Rectangle 5">
                <a:extLst>
                  <a:ext uri="{FF2B5EF4-FFF2-40B4-BE49-F238E27FC236}">
                    <a16:creationId xmlns:a16="http://schemas.microsoft.com/office/drawing/2014/main" id="{D32FA3D1-511F-012A-FD1C-BE71992999EF}"/>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C1AB4BC8-8166-7206-6178-D41931595E3E}"/>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Lược đồ và trạng thái cơ sở dữ liệu</a:t>
                </a:r>
                <a:endParaRPr lang="en-US" sz="3600" b="1" kern="1200"/>
              </a:p>
            </p:txBody>
          </p:sp>
        </p:grpSp>
        <p:sp>
          <p:nvSpPr>
            <p:cNvPr id="5" name="Oval 4">
              <a:extLst>
                <a:ext uri="{FF2B5EF4-FFF2-40B4-BE49-F238E27FC236}">
                  <a16:creationId xmlns:a16="http://schemas.microsoft.com/office/drawing/2014/main" id="{02D1FF61-F98B-7728-A87A-7294E995B079}"/>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22344037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47C6-1767-A2B3-792F-78772B24EC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142E18-55CC-3CE7-26E5-15BFBC69FC34}"/>
              </a:ext>
            </a:extLst>
          </p:cNvPr>
          <p:cNvSpPr>
            <a:spLocks noGrp="1"/>
          </p:cNvSpPr>
          <p:nvPr>
            <p:ph idx="1"/>
          </p:nvPr>
        </p:nvSpPr>
        <p:spPr>
          <a:xfrm>
            <a:off x="1484310" y="1817224"/>
            <a:ext cx="10018713" cy="4189563"/>
          </a:xfrm>
        </p:spPr>
        <p:txBody>
          <a:bodyPr>
            <a:noAutofit/>
          </a:bodyPr>
          <a:lstStyle/>
          <a:p>
            <a:r>
              <a:rPr lang="en-US"/>
              <a:t>Khi chúng ta định nghĩa một cơ sở dữ liệu mới, ta chỉ đặc tả lược đồ cơ sở dữ liệu cho hệ quản trị cơ sở dữ liệu. Tại thời điểm này, trạng thái của cơ sở dữ liệu là một trạng thái rỗng, không có dữ liệu. </a:t>
            </a:r>
          </a:p>
          <a:p>
            <a:r>
              <a:rPr lang="en-US"/>
              <a:t>Chúng ta nhận được trạng thái ban đầu của cơ sở dữ liệu khi ta nhập dữ liệu lần đầu tiên.</a:t>
            </a:r>
          </a:p>
          <a:p>
            <a:r>
              <a:rPr lang="en-US"/>
              <a:t>Mỗi khi một phép toán cập nhật được thực hiện đối với cơ sở dữ liệu, chúng ta nhận được một trạng thái cơ sở dữ liệu khác</a:t>
            </a:r>
          </a:p>
          <a:p>
            <a:r>
              <a:rPr lang="en-US"/>
              <a:t>Hệ quản trị cơ sở dữ liệu có trách nhiệm đảm bảo rằng mỗi trạng thái cơ sở dữ liệu là một trạng thái vững chắc, nghĩa là một trạng thái thoả mãn cấu trúc và các ràng buộc được đặc tả trong lược đồ. </a:t>
            </a:r>
            <a:endParaRPr lang="en-US" sz="2800"/>
          </a:p>
        </p:txBody>
      </p:sp>
      <p:grpSp>
        <p:nvGrpSpPr>
          <p:cNvPr id="2" name="Group 1">
            <a:extLst>
              <a:ext uri="{FF2B5EF4-FFF2-40B4-BE49-F238E27FC236}">
                <a16:creationId xmlns:a16="http://schemas.microsoft.com/office/drawing/2014/main" id="{12F3FE59-A5B3-3F8E-A02A-BE7C0215420E}"/>
              </a:ext>
            </a:extLst>
          </p:cNvPr>
          <p:cNvGrpSpPr/>
          <p:nvPr/>
        </p:nvGrpSpPr>
        <p:grpSpPr>
          <a:xfrm>
            <a:off x="1589676" y="633060"/>
            <a:ext cx="9792699" cy="727172"/>
            <a:chOff x="1589676" y="633060"/>
            <a:chExt cx="9792699" cy="727172"/>
          </a:xfrm>
        </p:grpSpPr>
        <p:grpSp>
          <p:nvGrpSpPr>
            <p:cNvPr id="4" name="Group 3">
              <a:extLst>
                <a:ext uri="{FF2B5EF4-FFF2-40B4-BE49-F238E27FC236}">
                  <a16:creationId xmlns:a16="http://schemas.microsoft.com/office/drawing/2014/main" id="{E7F004F1-5600-4404-1235-1BD3FD2ADF61}"/>
                </a:ext>
              </a:extLst>
            </p:cNvPr>
            <p:cNvGrpSpPr/>
            <p:nvPr/>
          </p:nvGrpSpPr>
          <p:grpSpPr>
            <a:xfrm>
              <a:off x="1920209" y="699166"/>
              <a:ext cx="9462166" cy="661066"/>
              <a:chOff x="390603" y="264288"/>
              <a:chExt cx="9582814" cy="661066"/>
            </a:xfrm>
          </p:grpSpPr>
          <p:sp>
            <p:nvSpPr>
              <p:cNvPr id="6" name="Rectangle 5">
                <a:extLst>
                  <a:ext uri="{FF2B5EF4-FFF2-40B4-BE49-F238E27FC236}">
                    <a16:creationId xmlns:a16="http://schemas.microsoft.com/office/drawing/2014/main" id="{B87747DC-650B-CA7B-F578-ACA54E13F711}"/>
                  </a:ext>
                </a:extLst>
              </p:cNvPr>
              <p:cNvSpPr/>
              <p:nvPr/>
            </p:nvSpPr>
            <p:spPr>
              <a:xfrm>
                <a:off x="390603" y="264288"/>
                <a:ext cx="9582814" cy="661066"/>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58465E13-CF2D-7836-F0E4-6BB6A5664AA8}"/>
                  </a:ext>
                </a:extLst>
              </p:cNvPr>
              <p:cNvSpPr txBox="1"/>
              <p:nvPr/>
            </p:nvSpPr>
            <p:spPr>
              <a:xfrm>
                <a:off x="505603" y="416335"/>
                <a:ext cx="9467813" cy="5090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777" tIns="101600" rIns="101600" bIns="101600" numCol="1" spcCol="1270" anchor="ctr" anchorCtr="0">
                <a:noAutofit/>
              </a:bodyPr>
              <a:lstStyle/>
              <a:p>
                <a:pPr marL="0" lvl="0" indent="0" algn="l" defTabSz="1778000">
                  <a:lnSpc>
                    <a:spcPct val="90000"/>
                  </a:lnSpc>
                  <a:spcBef>
                    <a:spcPct val="0"/>
                  </a:spcBef>
                  <a:spcAft>
                    <a:spcPct val="35000"/>
                  </a:spcAft>
                  <a:buNone/>
                </a:pPr>
                <a:r>
                  <a:rPr lang="en-US" sz="3600" b="1"/>
                  <a:t>Lược đồ và trạng thái cơ sở dữ liệu</a:t>
                </a:r>
                <a:endParaRPr lang="en-US" sz="3600" b="1" kern="1200"/>
              </a:p>
            </p:txBody>
          </p:sp>
        </p:grpSp>
        <p:sp>
          <p:nvSpPr>
            <p:cNvPr id="5" name="Oval 4">
              <a:extLst>
                <a:ext uri="{FF2B5EF4-FFF2-40B4-BE49-F238E27FC236}">
                  <a16:creationId xmlns:a16="http://schemas.microsoft.com/office/drawing/2014/main" id="{9BE5BE81-F7B1-D360-CBAF-86FE0646AFC6}"/>
                </a:ext>
              </a:extLst>
            </p:cNvPr>
            <p:cNvSpPr/>
            <p:nvPr/>
          </p:nvSpPr>
          <p:spPr>
            <a:xfrm>
              <a:off x="1589676" y="633060"/>
              <a:ext cx="661066" cy="661066"/>
            </a:xfrm>
            <a:prstGeom prst="ellipse">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2770950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F854F-8FC3-02C9-E069-1C07999E494C}"/>
              </a:ext>
            </a:extLst>
          </p:cNvPr>
          <p:cNvSpPr>
            <a:spLocks noGrp="1"/>
          </p:cNvSpPr>
          <p:nvPr>
            <p:ph type="title"/>
          </p:nvPr>
        </p:nvSpPr>
        <p:spPr>
          <a:xfrm>
            <a:off x="1398586" y="2552700"/>
            <a:ext cx="10018713" cy="1752599"/>
          </a:xfrm>
        </p:spPr>
        <p:txBody>
          <a:bodyPr/>
          <a:lstStyle/>
          <a:p>
            <a:r>
              <a:rPr lang="en-US" b="1"/>
              <a:t>Kết thúc chương 1</a:t>
            </a:r>
          </a:p>
        </p:txBody>
      </p:sp>
    </p:spTree>
    <p:extLst>
      <p:ext uri="{BB962C8B-B14F-4D97-AF65-F5344CB8AC3E}">
        <p14:creationId xmlns:p14="http://schemas.microsoft.com/office/powerpoint/2010/main" val="7485422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1184</TotalTime>
  <Words>2816</Words>
  <Application>Microsoft Office PowerPoint</Application>
  <PresentationFormat>Widescreen</PresentationFormat>
  <Paragraphs>231</Paragraphs>
  <Slides>43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Corbel</vt:lpstr>
      <vt:lpstr>Tahoma</vt:lpstr>
      <vt:lpstr>Wingdings</vt:lpstr>
      <vt:lpstr>Parallax</vt:lpstr>
      <vt:lpstr>CƠ SỞ DỮ LIỆU</vt:lpstr>
      <vt:lpstr>TÀI LIỆU HỌC TẬP</vt:lpstr>
      <vt:lpstr>MỤC TIÊU HỌC PHẦN</vt:lpstr>
      <vt:lpstr>NỘI DUNG HỌC PHẦN</vt:lpstr>
      <vt:lpstr>PHÂN PHỐI CHƯƠNG TRÌNH</vt:lpstr>
      <vt:lpstr>CHƯƠNG 1. TỔNG QUAN VỀ CSDL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Kết thúc chương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Khuong Quynh</dc:creator>
  <cp:lastModifiedBy>Khuong Quynh</cp:lastModifiedBy>
  <cp:revision>16</cp:revision>
  <dcterms:created xsi:type="dcterms:W3CDTF">2026-04-09T15:37:44Z</dcterms:created>
  <dcterms:modified xsi:type="dcterms:W3CDTF">2026-04-11T15:22:11Z</dcterms:modified>
</cp:coreProperties>
</file>